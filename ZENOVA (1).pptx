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323" r:id="rId2"/>
    <p:sldId id="297" r:id="rId3"/>
    <p:sldId id="257" r:id="rId4"/>
    <p:sldId id="324" r:id="rId5"/>
    <p:sldId id="309" r:id="rId6"/>
    <p:sldId id="259" r:id="rId7"/>
    <p:sldId id="310" r:id="rId8"/>
    <p:sldId id="270" r:id="rId9"/>
    <p:sldId id="295" r:id="rId10"/>
    <p:sldId id="296" r:id="rId11"/>
    <p:sldId id="316" r:id="rId12"/>
    <p:sldId id="287" r:id="rId13"/>
    <p:sldId id="317" r:id="rId14"/>
    <p:sldId id="289" r:id="rId15"/>
    <p:sldId id="313" r:id="rId16"/>
    <p:sldId id="314" r:id="rId17"/>
    <p:sldId id="264" r:id="rId18"/>
    <p:sldId id="293" r:id="rId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98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EFBD0-AC4F-4E44-B030-F8719D822E96}" v="27" dt="2026-08-19T07:59:13.73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4660"/>
  </p:normalViewPr>
  <p:slideViewPr>
    <p:cSldViewPr snapToGrid="0">
      <p:cViewPr varScale="1">
        <p:scale>
          <a:sx n="88" d="100"/>
          <a:sy n="88" d="100"/>
        </p:scale>
        <p:origin x="131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an reddy" userId="601fab0469da218f" providerId="LiveId" clId="{EEC629F8-B21D-4A3B-93E9-A99D42F1BB01}"/>
    <pc:docChg chg="undo custSel addSld delSld modSld sldOrd">
      <pc:chgData name="keerthan reddy" userId="601fab0469da218f" providerId="LiveId" clId="{EEC629F8-B21D-4A3B-93E9-A99D42F1BB01}" dt="2026-08-19T08:05:21.785" v="428" actId="1076"/>
      <pc:docMkLst>
        <pc:docMk/>
      </pc:docMkLst>
      <pc:sldChg chg="addSp delSp modSp mod">
        <pc:chgData name="keerthan reddy" userId="601fab0469da218f" providerId="LiveId" clId="{EEC629F8-B21D-4A3B-93E9-A99D42F1BB01}" dt="2026-08-19T07:55:17.833" v="223" actId="20577"/>
        <pc:sldMkLst>
          <pc:docMk/>
          <pc:sldMk cId="0" sldId="257"/>
        </pc:sldMkLst>
        <pc:spChg chg="add del mod">
          <ac:chgData name="keerthan reddy" userId="601fab0469da218f" providerId="LiveId" clId="{EEC629F8-B21D-4A3B-93E9-A99D42F1BB01}" dt="2026-08-19T07:52:39.643" v="190"/>
          <ac:spMkLst>
            <pc:docMk/>
            <pc:sldMk cId="0" sldId="257"/>
            <ac:spMk id="2" creationId="{D5CBAD71-7CC8-3BB1-9EAB-3A152D32ABC5}"/>
          </ac:spMkLst>
        </pc:spChg>
        <pc:spChg chg="add mod">
          <ac:chgData name="keerthan reddy" userId="601fab0469da218f" providerId="LiveId" clId="{EEC629F8-B21D-4A3B-93E9-A99D42F1BB01}" dt="2026-08-19T07:53:00.137" v="195"/>
          <ac:spMkLst>
            <pc:docMk/>
            <pc:sldMk cId="0" sldId="257"/>
            <ac:spMk id="3" creationId="{2C0867E2-CBC8-26CB-386D-44EF0F265CFB}"/>
          </ac:spMkLst>
        </pc:spChg>
        <pc:spChg chg="add mod">
          <ac:chgData name="keerthan reddy" userId="601fab0469da218f" providerId="LiveId" clId="{EEC629F8-B21D-4A3B-93E9-A99D42F1BB01}" dt="2026-08-19T07:55:17.833" v="223" actId="20577"/>
          <ac:spMkLst>
            <pc:docMk/>
            <pc:sldMk cId="0" sldId="257"/>
            <ac:spMk id="4" creationId="{E278FABA-31A3-8B36-DB82-9DD7F210EF28}"/>
          </ac:spMkLst>
        </pc:spChg>
        <pc:spChg chg="del mod">
          <ac:chgData name="keerthan reddy" userId="601fab0469da218f" providerId="LiveId" clId="{EEC629F8-B21D-4A3B-93E9-A99D42F1BB01}" dt="2026-08-19T07:52:26.082" v="183" actId="478"/>
          <ac:spMkLst>
            <pc:docMk/>
            <pc:sldMk cId="0" sldId="257"/>
            <ac:spMk id="141" creationId="{00000000-0000-0000-0000-000000000000}"/>
          </ac:spMkLst>
        </pc:spChg>
      </pc:sldChg>
      <pc:sldChg chg="modSp mod">
        <pc:chgData name="keerthan reddy" userId="601fab0469da218f" providerId="LiveId" clId="{EEC629F8-B21D-4A3B-93E9-A99D42F1BB01}" dt="2026-08-19T08:05:21.785" v="428" actId="1076"/>
        <pc:sldMkLst>
          <pc:docMk/>
          <pc:sldMk cId="0" sldId="259"/>
        </pc:sldMkLst>
        <pc:picChg chg="mod">
          <ac:chgData name="keerthan reddy" userId="601fab0469da218f" providerId="LiveId" clId="{EEC629F8-B21D-4A3B-93E9-A99D42F1BB01}" dt="2026-08-19T08:05:21.785" v="428" actId="1076"/>
          <ac:picMkLst>
            <pc:docMk/>
            <pc:sldMk cId="0" sldId="259"/>
            <ac:picMk id="12" creationId="{47AB372D-0006-654B-66F5-93F582037140}"/>
          </ac:picMkLst>
        </pc:picChg>
      </pc:sldChg>
      <pc:sldChg chg="modSp mod">
        <pc:chgData name="keerthan reddy" userId="601fab0469da218f" providerId="LiveId" clId="{EEC629F8-B21D-4A3B-93E9-A99D42F1BB01}" dt="2026-08-19T08:03:47" v="418" actId="20577"/>
        <pc:sldMkLst>
          <pc:docMk/>
          <pc:sldMk cId="918418832" sldId="270"/>
        </pc:sldMkLst>
        <pc:spChg chg="mod">
          <ac:chgData name="keerthan reddy" userId="601fab0469da218f" providerId="LiveId" clId="{EEC629F8-B21D-4A3B-93E9-A99D42F1BB01}" dt="2026-08-19T08:03:47" v="418" actId="20577"/>
          <ac:spMkLst>
            <pc:docMk/>
            <pc:sldMk cId="918418832" sldId="270"/>
            <ac:spMk id="2" creationId="{42BBF0B6-EC9F-0210-6E25-70C5AFC99602}"/>
          </ac:spMkLst>
        </pc:spChg>
      </pc:sldChg>
      <pc:sldChg chg="modSp mod">
        <pc:chgData name="keerthan reddy" userId="601fab0469da218f" providerId="LiveId" clId="{EEC629F8-B21D-4A3B-93E9-A99D42F1BB01}" dt="2026-08-19T08:01:02.368" v="400" actId="20577"/>
        <pc:sldMkLst>
          <pc:docMk/>
          <pc:sldMk cId="0" sldId="309"/>
        </pc:sldMkLst>
        <pc:spChg chg="mod">
          <ac:chgData name="keerthan reddy" userId="601fab0469da218f" providerId="LiveId" clId="{EEC629F8-B21D-4A3B-93E9-A99D42F1BB01}" dt="2026-08-19T08:01:02.368" v="400" actId="20577"/>
          <ac:spMkLst>
            <pc:docMk/>
            <pc:sldMk cId="0" sldId="309"/>
            <ac:spMk id="141" creationId="{00000000-0000-0000-0000-000000000000}"/>
          </ac:spMkLst>
        </pc:spChg>
      </pc:sldChg>
      <pc:sldChg chg="modSp mod">
        <pc:chgData name="keerthan reddy" userId="601fab0469da218f" providerId="LiveId" clId="{EEC629F8-B21D-4A3B-93E9-A99D42F1BB01}" dt="2026-08-19T08:04:06.765" v="426" actId="5793"/>
        <pc:sldMkLst>
          <pc:docMk/>
          <pc:sldMk cId="0" sldId="310"/>
        </pc:sldMkLst>
        <pc:spChg chg="mod">
          <ac:chgData name="keerthan reddy" userId="601fab0469da218f" providerId="LiveId" clId="{EEC629F8-B21D-4A3B-93E9-A99D42F1BB01}" dt="2026-08-19T08:04:06.765" v="426" actId="5793"/>
          <ac:spMkLst>
            <pc:docMk/>
            <pc:sldMk cId="0" sldId="310"/>
            <ac:spMk id="5" creationId="{9947DF29-E113-01A9-B635-247E8900E54F}"/>
          </ac:spMkLst>
        </pc:spChg>
      </pc:sldChg>
      <pc:sldChg chg="ord">
        <pc:chgData name="keerthan reddy" userId="601fab0469da218f" providerId="LiveId" clId="{EEC629F8-B21D-4A3B-93E9-A99D42F1BB01}" dt="2026-08-19T08:02:38.327" v="402"/>
        <pc:sldMkLst>
          <pc:docMk/>
          <pc:sldMk cId="205189359" sldId="316"/>
        </pc:sldMkLst>
      </pc:sldChg>
      <pc:sldChg chg="modSp mod">
        <pc:chgData name="keerthan reddy" userId="601fab0469da218f" providerId="LiveId" clId="{EEC629F8-B21D-4A3B-93E9-A99D42F1BB01}" dt="2026-08-19T07:35:09.993" v="39" actId="1076"/>
        <pc:sldMkLst>
          <pc:docMk/>
          <pc:sldMk cId="3354053404" sldId="323"/>
        </pc:sldMkLst>
        <pc:spChg chg="mod">
          <ac:chgData name="keerthan reddy" userId="601fab0469da218f" providerId="LiveId" clId="{EEC629F8-B21D-4A3B-93E9-A99D42F1BB01}" dt="2026-08-19T07:34:15.946" v="7" actId="1076"/>
          <ac:spMkLst>
            <pc:docMk/>
            <pc:sldMk cId="3354053404" sldId="323"/>
            <ac:spMk id="7" creationId="{00000000-0000-0000-0000-000000000000}"/>
          </ac:spMkLst>
        </pc:spChg>
        <pc:spChg chg="mod">
          <ac:chgData name="keerthan reddy" userId="601fab0469da218f" providerId="LiveId" clId="{EEC629F8-B21D-4A3B-93E9-A99D42F1BB01}" dt="2026-08-19T07:35:09.993" v="39" actId="1076"/>
          <ac:spMkLst>
            <pc:docMk/>
            <pc:sldMk cId="3354053404" sldId="323"/>
            <ac:spMk id="8" creationId="{00000000-0000-0000-0000-000000000000}"/>
          </ac:spMkLst>
        </pc:spChg>
        <pc:grpChg chg="mod">
          <ac:chgData name="keerthan reddy" userId="601fab0469da218f" providerId="LiveId" clId="{EEC629F8-B21D-4A3B-93E9-A99D42F1BB01}" dt="2026-08-19T07:34:10.425" v="6" actId="1076"/>
          <ac:grpSpMkLst>
            <pc:docMk/>
            <pc:sldMk cId="3354053404" sldId="323"/>
            <ac:grpSpMk id="3" creationId="{00000000-0000-0000-0000-000000000000}"/>
          </ac:grpSpMkLst>
        </pc:grpChg>
        <pc:graphicFrameChg chg="mod modGraphic">
          <ac:chgData name="keerthan reddy" userId="601fab0469da218f" providerId="LiveId" clId="{EEC629F8-B21D-4A3B-93E9-A99D42F1BB01}" dt="2026-08-19T07:34:41.867" v="36" actId="1076"/>
          <ac:graphicFrameMkLst>
            <pc:docMk/>
            <pc:sldMk cId="3354053404" sldId="323"/>
            <ac:graphicFrameMk id="9" creationId="{00000000-0000-0000-0000-000000000000}"/>
          </ac:graphicFrameMkLst>
        </pc:graphicFrameChg>
      </pc:sldChg>
      <pc:sldChg chg="addSp delSp modSp mod">
        <pc:chgData name="keerthan reddy" userId="601fab0469da218f" providerId="LiveId" clId="{EEC629F8-B21D-4A3B-93E9-A99D42F1BB01}" dt="2026-08-19T07:59:26.128" v="276" actId="255"/>
        <pc:sldMkLst>
          <pc:docMk/>
          <pc:sldMk cId="412769604" sldId="324"/>
        </pc:sldMkLst>
        <pc:spChg chg="add mod">
          <ac:chgData name="keerthan reddy" userId="601fab0469da218f" providerId="LiveId" clId="{EEC629F8-B21D-4A3B-93E9-A99D42F1BB01}" dt="2026-08-19T07:56:39.419" v="240"/>
          <ac:spMkLst>
            <pc:docMk/>
            <pc:sldMk cId="412769604" sldId="324"/>
            <ac:spMk id="2" creationId="{BB200F3D-2CB2-2180-0F78-C30FC3A83951}"/>
          </ac:spMkLst>
        </pc:spChg>
        <pc:spChg chg="add mod">
          <ac:chgData name="keerthan reddy" userId="601fab0469da218f" providerId="LiveId" clId="{EEC629F8-B21D-4A3B-93E9-A99D42F1BB01}" dt="2026-08-19T07:59:26.128" v="276" actId="255"/>
          <ac:spMkLst>
            <pc:docMk/>
            <pc:sldMk cId="412769604" sldId="324"/>
            <ac:spMk id="3" creationId="{42490B97-FC13-86B0-B055-2D28F9EEF30F}"/>
          </ac:spMkLst>
        </pc:spChg>
        <pc:spChg chg="del mod">
          <ac:chgData name="keerthan reddy" userId="601fab0469da218f" providerId="LiveId" clId="{EEC629F8-B21D-4A3B-93E9-A99D42F1BB01}" dt="2026-08-19T07:56:11.477" v="229" actId="478"/>
          <ac:spMkLst>
            <pc:docMk/>
            <pc:sldMk cId="412769604" sldId="324"/>
            <ac:spMk id="141" creationId="{9083B1C4-B4A9-9DC5-01D6-B83F454CE49A}"/>
          </ac:spMkLst>
        </pc:spChg>
      </pc:sldChg>
      <pc:sldChg chg="add del">
        <pc:chgData name="keerthan reddy" userId="601fab0469da218f" providerId="LiveId" clId="{EEC629F8-B21D-4A3B-93E9-A99D42F1BB01}" dt="2026-08-19T07:55:36.876" v="224" actId="47"/>
        <pc:sldMkLst>
          <pc:docMk/>
          <pc:sldMk cId="3421182973" sldId="325"/>
        </pc:sldMkLst>
      </pc:sldChg>
      <pc:sldChg chg="add del">
        <pc:chgData name="keerthan reddy" userId="601fab0469da218f" providerId="LiveId" clId="{EEC629F8-B21D-4A3B-93E9-A99D42F1BB01}" dt="2026-08-19T07:59:39.152" v="277" actId="47"/>
        <pc:sldMkLst>
          <pc:docMk/>
          <pc:sldMk cId="3498786884" sldId="3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2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3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4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60"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72"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8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9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10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300262" y="381000"/>
            <a:ext cx="310339" cy="307777"/>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8735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sp>
        <p:nvSpPr>
          <p:cNvPr id="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pic>
        <p:nvPicPr>
          <p:cNvPr id="4" name="image.png" descr="image.png"/>
          <p:cNvPicPr>
            <a:picLocks noChangeAspect="1"/>
          </p:cNvPicPr>
          <p:nvPr/>
        </p:nvPicPr>
        <p:blipFill>
          <a:blip r:embed="rId13"/>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2" y="381000"/>
            <a:ext cx="301909" cy="288824"/>
          </a:xfrm>
          <a:prstGeom prst="rect">
            <a:avLst/>
          </a:prstGeom>
          <a:ln w="12700">
            <a:miter lim="400000"/>
          </a:ln>
        </p:spPr>
        <p:txBody>
          <a:bodyPr wrap="none" lIns="45719" rIns="45719">
            <a:spAutoFit/>
          </a:bodyPr>
          <a:lstStyle>
            <a:lvl1pPr algn="r">
              <a:defRPr>
                <a:latin typeface="+mn-lt"/>
                <a:ea typeface="+mn-ea"/>
                <a:cs typeface="+mn-cs"/>
                <a:sym typeface="Arial"/>
              </a:defRPr>
            </a:lvl1pP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457200" y="1600200"/>
            <a:ext cx="8229600" cy="4525963"/>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hf hdr="0" dt="0"/>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88720" y="1750458"/>
            <a:ext cx="6766560" cy="46166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645"/>
              </a:lnSpc>
            </a:pPr>
            <a:r>
              <a:rPr lang="en-US" sz="3375">
                <a:solidFill>
                  <a:srgbClr val="000000"/>
                </a:solidFill>
                <a:latin typeface="Arimo"/>
                <a:ea typeface="Arimo"/>
                <a:cs typeface="Arimo"/>
                <a:sym typeface="Arimo"/>
              </a:rPr>
              <a:t>f</a:t>
            </a:r>
          </a:p>
        </p:txBody>
      </p:sp>
      <p:grpSp>
        <p:nvGrpSpPr>
          <p:cNvPr id="3" name="Group 3"/>
          <p:cNvGrpSpPr/>
          <p:nvPr/>
        </p:nvGrpSpPr>
        <p:grpSpPr>
          <a:xfrm>
            <a:off x="-1" y="0"/>
            <a:ext cx="9144001" cy="6858000"/>
            <a:chOff x="0" y="0"/>
            <a:chExt cx="24396700" cy="14427200"/>
          </a:xfrm>
        </p:grpSpPr>
        <p:sp>
          <p:nvSpPr>
            <p:cNvPr id="4" name="Freeform 4"/>
            <p:cNvSpPr/>
            <p:nvPr/>
          </p:nvSpPr>
          <p:spPr>
            <a:xfrm>
              <a:off x="0" y="0"/>
              <a:ext cx="24396700" cy="14427200"/>
            </a:xfrm>
            <a:custGeom>
              <a:avLst/>
              <a:gdLst/>
              <a:ahLst/>
              <a:cxnLst/>
              <a:rect l="l" t="t" r="r" b="b"/>
              <a:pathLst>
                <a:path w="24396700" h="14427200">
                  <a:moveTo>
                    <a:pt x="0" y="0"/>
                  </a:moveTo>
                  <a:lnTo>
                    <a:pt x="24396700" y="0"/>
                  </a:lnTo>
                  <a:lnTo>
                    <a:pt x="24396700" y="14427200"/>
                  </a:lnTo>
                  <a:lnTo>
                    <a:pt x="0" y="14427200"/>
                  </a:lnTo>
                  <a:close/>
                </a:path>
              </a:pathLst>
            </a:custGeom>
            <a:solidFill>
              <a:srgbClr val="B8114F"/>
            </a:solidFill>
          </p:spPr>
          <p:txBody>
            <a:bodyPr/>
            <a:lstStyle/>
            <a:p>
              <a:endParaRPr lang="en-IN" sz="1050"/>
            </a:p>
          </p:txBody>
        </p:sp>
      </p:grpSp>
      <p:sp>
        <p:nvSpPr>
          <p:cNvPr id="5" name="Freeform 5" descr="A picture containing drawing  Description automatically generated"/>
          <p:cNvSpPr/>
          <p:nvPr/>
        </p:nvSpPr>
        <p:spPr>
          <a:xfrm>
            <a:off x="5700826" y="4869657"/>
            <a:ext cx="3443174" cy="1104899"/>
          </a:xfrm>
          <a:custGeom>
            <a:avLst/>
            <a:gdLst/>
            <a:ahLst/>
            <a:cxnLst/>
            <a:rect l="l" t="t" r="r" b="b"/>
            <a:pathLst>
              <a:path w="6886348" h="2209798">
                <a:moveTo>
                  <a:pt x="0" y="0"/>
                </a:moveTo>
                <a:lnTo>
                  <a:pt x="6886348" y="0"/>
                </a:lnTo>
                <a:lnTo>
                  <a:pt x="6886348" y="2209799"/>
                </a:lnTo>
                <a:lnTo>
                  <a:pt x="0" y="2209799"/>
                </a:lnTo>
                <a:lnTo>
                  <a:pt x="0" y="0"/>
                </a:lnTo>
                <a:close/>
              </a:path>
            </a:pathLst>
          </a:custGeom>
          <a:blipFill>
            <a:blip r:embed="rId2"/>
            <a:stretch>
              <a:fillRect l="-43" r="-43"/>
            </a:stretch>
          </a:blipFill>
        </p:spPr>
        <p:txBody>
          <a:bodyPr/>
          <a:lstStyle/>
          <a:p>
            <a:endParaRPr lang="en-IN" sz="1050"/>
          </a:p>
        </p:txBody>
      </p:sp>
      <p:sp>
        <p:nvSpPr>
          <p:cNvPr id="6" name="TextBox 6"/>
          <p:cNvSpPr txBox="1"/>
          <p:nvPr/>
        </p:nvSpPr>
        <p:spPr>
          <a:xfrm>
            <a:off x="6503670" y="5642611"/>
            <a:ext cx="1965960" cy="102592"/>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r">
              <a:lnSpc>
                <a:spcPts val="810"/>
              </a:lnSpc>
            </a:pPr>
            <a:r>
              <a:rPr lang="en-US" sz="675" spc="6">
                <a:solidFill>
                  <a:srgbClr val="898989"/>
                </a:solidFill>
                <a:latin typeface="TT Rounds Condensed"/>
                <a:ea typeface="TT Rounds Condensed"/>
                <a:cs typeface="TT Rounds Condensed"/>
                <a:sym typeface="TT Rounds Condensed"/>
              </a:rPr>
              <a:t>1</a:t>
            </a:r>
          </a:p>
        </p:txBody>
      </p:sp>
      <p:sp>
        <p:nvSpPr>
          <p:cNvPr id="7" name="TextBox 7"/>
          <p:cNvSpPr txBox="1"/>
          <p:nvPr/>
        </p:nvSpPr>
        <p:spPr>
          <a:xfrm>
            <a:off x="310041" y="206229"/>
            <a:ext cx="8523915" cy="1565108"/>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240"/>
              </a:lnSpc>
            </a:pPr>
            <a:endParaRPr lang="en-US" sz="2700" b="1" dirty="0">
              <a:solidFill>
                <a:schemeClr val="bg1"/>
              </a:solidFill>
              <a:latin typeface="Calibri"/>
              <a:ea typeface="Calibri"/>
              <a:cs typeface="Calibri"/>
            </a:endParaRPr>
          </a:p>
          <a:p>
            <a:pPr algn="ctr">
              <a:lnSpc>
                <a:spcPts val="3240"/>
              </a:lnSpc>
            </a:pPr>
            <a:r>
              <a:rPr lang="en-US" sz="2700" b="1" dirty="0">
                <a:solidFill>
                  <a:schemeClr val="bg1"/>
                </a:solidFill>
                <a:latin typeface="Calibri"/>
                <a:ea typeface="Calibri"/>
                <a:cs typeface="Calibri"/>
              </a:rPr>
              <a:t>AI – Assisted Well-being System For People With Mental Health Conditions</a:t>
            </a:r>
          </a:p>
          <a:p>
            <a:pPr algn="ctr">
              <a:lnSpc>
                <a:spcPts val="3240"/>
              </a:lnSpc>
            </a:pPr>
            <a:endParaRPr lang="en-US" sz="900" dirty="0">
              <a:solidFill>
                <a:schemeClr val="bg1"/>
              </a:solidFill>
            </a:endParaRPr>
          </a:p>
        </p:txBody>
      </p:sp>
      <p:sp>
        <p:nvSpPr>
          <p:cNvPr id="8" name="TextBox 8"/>
          <p:cNvSpPr txBox="1"/>
          <p:nvPr/>
        </p:nvSpPr>
        <p:spPr>
          <a:xfrm>
            <a:off x="619941" y="4926196"/>
            <a:ext cx="7561325" cy="906915"/>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ts val="1439"/>
              </a:lnSpc>
            </a:pPr>
            <a:r>
              <a:rPr lang="en-US" sz="1800" b="1" dirty="0" err="1">
                <a:solidFill>
                  <a:srgbClr val="F2F2F2"/>
                </a:solidFill>
                <a:latin typeface="Times New Roman Bold"/>
                <a:ea typeface="Times New Roman Bold"/>
                <a:cs typeface="Times New Roman Bold"/>
                <a:sym typeface="Times New Roman Bold"/>
              </a:rPr>
              <a:t>Team_No</a:t>
            </a:r>
            <a:r>
              <a:rPr lang="en-US" sz="1800" b="1" dirty="0">
                <a:solidFill>
                  <a:srgbClr val="F2F2F2"/>
                </a:solidFill>
                <a:latin typeface="Times New Roman Bold"/>
                <a:ea typeface="Times New Roman Bold"/>
                <a:cs typeface="Times New Roman Bold"/>
                <a:sym typeface="Times New Roman Bold"/>
              </a:rPr>
              <a:t>:   23UG041</a:t>
            </a:r>
            <a:endParaRPr lang="en-US" sz="1800" b="1" dirty="0">
              <a:solidFill>
                <a:srgbClr val="F2F2F2"/>
              </a:solidFill>
              <a:latin typeface="Times New Roman Bold"/>
              <a:ea typeface="Times New Roman Bold"/>
              <a:cs typeface="Times New Roman Bold"/>
            </a:endParaRPr>
          </a:p>
          <a:p>
            <a:pPr>
              <a:lnSpc>
                <a:spcPts val="1439"/>
              </a:lnSpc>
            </a:pPr>
            <a:endParaRPr lang="en-US" sz="1800" b="1" dirty="0">
              <a:solidFill>
                <a:srgbClr val="F2F2F2"/>
              </a:solidFill>
              <a:latin typeface="Times New Roman Bold"/>
              <a:ea typeface="Times New Roman Bold"/>
              <a:cs typeface="Times New Roman Bold"/>
              <a:sym typeface="Times New Roman Bold"/>
            </a:endParaRPr>
          </a:p>
          <a:p>
            <a:pPr>
              <a:lnSpc>
                <a:spcPts val="1439"/>
              </a:lnSpc>
            </a:pPr>
            <a:r>
              <a:rPr lang="en-US" sz="1800" b="1" dirty="0">
                <a:solidFill>
                  <a:srgbClr val="F2F2F2"/>
                </a:solidFill>
                <a:latin typeface="Times New Roman Bold"/>
                <a:ea typeface="Times New Roman Bold"/>
                <a:cs typeface="Times New Roman Bold"/>
                <a:sym typeface="Times New Roman Bold"/>
              </a:rPr>
              <a:t>Project  Advisor: Dr. Sajitha Krishnan</a:t>
            </a:r>
          </a:p>
          <a:p>
            <a:pPr>
              <a:lnSpc>
                <a:spcPts val="1439"/>
              </a:lnSpc>
            </a:pPr>
            <a:endParaRPr lang="en-US" sz="1800" b="1" dirty="0">
              <a:solidFill>
                <a:srgbClr val="F2F2F2"/>
              </a:solidFill>
              <a:latin typeface="Times New Roman Bold"/>
              <a:ea typeface="Times New Roman Bold"/>
              <a:cs typeface="Times New Roman Bold"/>
            </a:endParaRPr>
          </a:p>
          <a:p>
            <a:pPr>
              <a:lnSpc>
                <a:spcPts val="1439"/>
              </a:lnSpc>
            </a:pPr>
            <a:r>
              <a:rPr lang="en-US" sz="1800" b="1" dirty="0">
                <a:solidFill>
                  <a:srgbClr val="F2F2F2"/>
                </a:solidFill>
                <a:latin typeface="Times New Roman Bold"/>
                <a:ea typeface="Times New Roman Bold"/>
                <a:cs typeface="Times New Roman Bold"/>
              </a:rPr>
              <a:t>Panel Members: Dr. Ritesh Raj &amp; Dr. Vasavi C S</a:t>
            </a:r>
          </a:p>
        </p:txBody>
      </p:sp>
      <p:graphicFrame>
        <p:nvGraphicFramePr>
          <p:cNvPr id="9" name="Table 9"/>
          <p:cNvGraphicFramePr>
            <a:graphicFrameLocks noGrp="1"/>
          </p:cNvGraphicFramePr>
          <p:nvPr>
            <p:extLst>
              <p:ext uri="{D42A27DB-BD31-4B8C-83A1-F6EECF244321}">
                <p14:modId xmlns:p14="http://schemas.microsoft.com/office/powerpoint/2010/main" val="660030935"/>
              </p:ext>
            </p:extLst>
          </p:nvPr>
        </p:nvGraphicFramePr>
        <p:xfrm>
          <a:off x="1081559" y="1934610"/>
          <a:ext cx="6873721" cy="2248853"/>
        </p:xfrm>
        <a:graphic>
          <a:graphicData uri="http://schemas.openxmlformats.org/drawingml/2006/table">
            <a:tbl>
              <a:tblPr/>
              <a:tblGrid>
                <a:gridCol w="2753549">
                  <a:extLst>
                    <a:ext uri="{9D8B030D-6E8A-4147-A177-3AD203B41FA5}">
                      <a16:colId xmlns:a16="http://schemas.microsoft.com/office/drawing/2014/main" val="20000"/>
                    </a:ext>
                  </a:extLst>
                </a:gridCol>
                <a:gridCol w="4120172">
                  <a:extLst>
                    <a:ext uri="{9D8B030D-6E8A-4147-A177-3AD203B41FA5}">
                      <a16:colId xmlns:a16="http://schemas.microsoft.com/office/drawing/2014/main" val="20001"/>
                    </a:ext>
                  </a:extLst>
                </a:gridCol>
              </a:tblGrid>
              <a:tr h="283524">
                <a:tc>
                  <a:txBody>
                    <a:bodyPr/>
                    <a:lstStyle/>
                    <a:p>
                      <a:pPr algn="ctr">
                        <a:lnSpc>
                          <a:spcPts val="3240"/>
                        </a:lnSpc>
                        <a:defRPr/>
                      </a:pPr>
                      <a:r>
                        <a:rPr lang="en-US" sz="1800" b="1" dirty="0">
                          <a:solidFill>
                            <a:srgbClr val="F2F2F2"/>
                          </a:solidFill>
                          <a:latin typeface="Times New Roman Bold"/>
                          <a:ea typeface="Times New Roman Bold"/>
                          <a:cs typeface="Times New Roman Bold"/>
                          <a:sym typeface="Times New Roman Bold"/>
                        </a:rPr>
                        <a:t>Reg. No.</a:t>
                      </a:r>
                      <a:endParaRPr lang="en-US" sz="180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3240"/>
                        </a:lnSpc>
                        <a:defRPr/>
                      </a:pPr>
                      <a:r>
                        <a:rPr lang="en-US" sz="1800" b="1">
                          <a:solidFill>
                            <a:srgbClr val="F2F2F2"/>
                          </a:solidFill>
                          <a:latin typeface="Times New Roman Bold"/>
                          <a:ea typeface="Times New Roman Bold"/>
                          <a:cs typeface="Times New Roman Bold"/>
                          <a:sym typeface="Times New Roman Bold"/>
                        </a:rPr>
                        <a:t>Name of the student</a:t>
                      </a:r>
                      <a:endParaRPr lang="en-US" sz="180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0236">
                <a:tc>
                  <a:txBody>
                    <a:bodyPr/>
                    <a:lstStyle/>
                    <a:p>
                      <a:pPr algn="ctr">
                        <a:lnSpc>
                          <a:spcPts val="3240"/>
                        </a:lnSpc>
                        <a:defRPr/>
                      </a:pPr>
                      <a:r>
                        <a:rPr lang="en-US" sz="1800" b="1" dirty="0">
                          <a:solidFill>
                            <a:srgbClr val="F2F2F2"/>
                          </a:solidFill>
                          <a:latin typeface="Times New Roman Bold"/>
                          <a:ea typeface="Times New Roman Bold"/>
                          <a:cs typeface="Times New Roman Bold"/>
                          <a:sym typeface="Times New Roman Bold"/>
                        </a:rPr>
                        <a:t>BL.EN.</a:t>
                      </a:r>
                      <a:r>
                        <a:rPr lang="en-US" sz="1800" b="1" dirty="0">
                          <a:solidFill>
                            <a:srgbClr val="F2F2F2"/>
                          </a:solidFill>
                          <a:latin typeface="Times New Roman Bold"/>
                          <a:ea typeface="Times New Roman Bold"/>
                          <a:cs typeface="Times New Roman Bold"/>
                        </a:rPr>
                        <a:t>U4CSE23126</a:t>
                      </a:r>
                      <a:endParaRPr lang="en-US" sz="180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3240"/>
                        </a:lnSpc>
                      </a:pPr>
                      <a:r>
                        <a:rPr lang="en-US" sz="1800" b="1" dirty="0">
                          <a:solidFill>
                            <a:srgbClr val="F2F2F2"/>
                          </a:solidFill>
                          <a:latin typeface="Times New Roman Bold"/>
                          <a:cs typeface="Times New Roman Bold"/>
                        </a:rPr>
                        <a:t>J V </a:t>
                      </a:r>
                      <a:r>
                        <a:rPr lang="en-US" sz="1800" b="1" dirty="0" err="1">
                          <a:solidFill>
                            <a:srgbClr val="F2F2F2"/>
                          </a:solidFill>
                          <a:latin typeface="Times New Roman Bold"/>
                          <a:cs typeface="Times New Roman Bold"/>
                        </a:rPr>
                        <a:t>V</a:t>
                      </a:r>
                      <a:r>
                        <a:rPr lang="en-US" sz="1800" b="1" dirty="0">
                          <a:solidFill>
                            <a:srgbClr val="F2F2F2"/>
                          </a:solidFill>
                          <a:latin typeface="Times New Roman Bold"/>
                          <a:cs typeface="Times New Roman Bold"/>
                        </a:rPr>
                        <a:t> Sai Akshay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0236">
                <a:tc>
                  <a:txBody>
                    <a:bodyPr/>
                    <a:lstStyle/>
                    <a:p>
                      <a:pPr algn="ctr">
                        <a:lnSpc>
                          <a:spcPts val="3240"/>
                        </a:lnSpc>
                        <a:defRPr/>
                      </a:pPr>
                      <a:r>
                        <a:rPr lang="en-US" sz="1800" b="1" dirty="0">
                          <a:solidFill>
                            <a:srgbClr val="F2F2F2"/>
                          </a:solidFill>
                          <a:latin typeface="Times New Roman Bold"/>
                          <a:ea typeface="Times New Roman Bold"/>
                          <a:cs typeface="Times New Roman Bold"/>
                          <a:sym typeface="Times New Roman Bold"/>
                        </a:rPr>
                        <a:t>BL.EN.</a:t>
                      </a:r>
                      <a:r>
                        <a:rPr lang="en-US" sz="1800" b="1" dirty="0">
                          <a:solidFill>
                            <a:srgbClr val="F2F2F2"/>
                          </a:solidFill>
                          <a:latin typeface="Times New Roman Bold"/>
                          <a:ea typeface="Times New Roman Bold"/>
                          <a:cs typeface="Times New Roman Bold"/>
                        </a:rPr>
                        <a:t>U4CSE23114</a:t>
                      </a:r>
                      <a:endParaRPr lang="en-US" sz="180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3240"/>
                        </a:lnSpc>
                      </a:pPr>
                      <a:r>
                        <a:rPr lang="en-US" sz="1800" b="1" dirty="0">
                          <a:solidFill>
                            <a:srgbClr val="F2F2F2"/>
                          </a:solidFill>
                          <a:latin typeface="Times New Roman Bold"/>
                          <a:cs typeface="Times New Roman Bold"/>
                        </a:rPr>
                        <a:t>Challa Vishwa Chaitanya Reddy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0236">
                <a:tc>
                  <a:txBody>
                    <a:bodyPr/>
                    <a:lstStyle/>
                    <a:p>
                      <a:pPr algn="ctr">
                        <a:lnSpc>
                          <a:spcPts val="3240"/>
                        </a:lnSpc>
                        <a:defRPr/>
                      </a:pPr>
                      <a:r>
                        <a:rPr lang="en-US" sz="1800" b="1" dirty="0">
                          <a:solidFill>
                            <a:srgbClr val="F2F2F2"/>
                          </a:solidFill>
                          <a:latin typeface="Times New Roman Bold"/>
                          <a:ea typeface="Times New Roman Bold"/>
                          <a:cs typeface="Times New Roman Bold"/>
                          <a:sym typeface="Times New Roman Bold"/>
                        </a:rPr>
                        <a:t>BL.EN.</a:t>
                      </a:r>
                      <a:r>
                        <a:rPr lang="en-US" sz="1800" b="1" dirty="0">
                          <a:solidFill>
                            <a:srgbClr val="F2F2F2"/>
                          </a:solidFill>
                          <a:latin typeface="Times New Roman Bold"/>
                          <a:ea typeface="Times New Roman Bold"/>
                          <a:cs typeface="Times New Roman Bold"/>
                        </a:rPr>
                        <a:t>U4CSE23118</a:t>
                      </a:r>
                      <a:endParaRPr lang="en-US" sz="180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3240"/>
                        </a:lnSpc>
                      </a:pPr>
                      <a:r>
                        <a:rPr lang="en-US" sz="1800" b="1" dirty="0">
                          <a:solidFill>
                            <a:srgbClr val="F2F2F2"/>
                          </a:solidFill>
                          <a:latin typeface="Times New Roman Bold"/>
                          <a:cs typeface="Times New Roman Bold"/>
                        </a:rPr>
                        <a:t>D Hari Keerthan Reddy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0236">
                <a:tc>
                  <a:txBody>
                    <a:bodyPr/>
                    <a:lstStyle/>
                    <a:p>
                      <a:pPr algn="ctr">
                        <a:lnSpc>
                          <a:spcPts val="3240"/>
                        </a:lnSpc>
                        <a:defRPr/>
                      </a:pPr>
                      <a:r>
                        <a:rPr lang="en-US" sz="1800" b="1" dirty="0">
                          <a:solidFill>
                            <a:srgbClr val="F2F2F2"/>
                          </a:solidFill>
                          <a:latin typeface="Times New Roman Bold"/>
                          <a:ea typeface="Times New Roman Bold"/>
                          <a:cs typeface="Times New Roman Bold"/>
                          <a:sym typeface="Times New Roman Bold"/>
                        </a:rPr>
                        <a:t>BL.EN.</a:t>
                      </a:r>
                      <a:r>
                        <a:rPr lang="en-US" sz="1800" b="1" dirty="0">
                          <a:solidFill>
                            <a:srgbClr val="F2F2F2"/>
                          </a:solidFill>
                          <a:latin typeface="Times New Roman Bold"/>
                          <a:ea typeface="Times New Roman Bold"/>
                          <a:cs typeface="Times New Roman Bold"/>
                        </a:rPr>
                        <a:t>U4CSE23108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3240"/>
                        </a:lnSpc>
                      </a:pPr>
                      <a:r>
                        <a:rPr lang="en-US" sz="1800" b="1" dirty="0">
                          <a:solidFill>
                            <a:srgbClr val="F2F2F2"/>
                          </a:solidFill>
                          <a:latin typeface="Times New Roman Bold"/>
                          <a:cs typeface="Times New Roman Bold"/>
                        </a:rPr>
                        <a:t>Amogh Babi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lide Number Placeholder 9">
            <a:extLst>
              <a:ext uri="{FF2B5EF4-FFF2-40B4-BE49-F238E27FC236}">
                <a16:creationId xmlns:a16="http://schemas.microsoft.com/office/drawing/2014/main" id="{6BA501B6-4B14-B5CB-AC56-3BC0F0AE4F96}"/>
              </a:ext>
            </a:extLst>
          </p:cNvPr>
          <p:cNvSpPr>
            <a:spLocks noGrp="1"/>
          </p:cNvSpPr>
          <p:nvPr>
            <p:ph type="sldNum" sz="quarter" idx="12"/>
          </p:nvPr>
        </p:nvSpPr>
        <p:spPr>
          <a:xfrm>
            <a:off x="8418884" y="381000"/>
            <a:ext cx="191717" cy="307777"/>
          </a:xfrm>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3354053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IN" smtClean="0"/>
              <a:t>2</a:t>
            </a:fld>
            <a:endParaRPr lang="en-IN"/>
          </a:p>
        </p:txBody>
      </p:sp>
      <p:sp>
        <p:nvSpPr>
          <p:cNvPr id="3" name="Title 2"/>
          <p:cNvSpPr>
            <a:spLocks noGrp="1"/>
          </p:cNvSpPr>
          <p:nvPr>
            <p:ph type="title"/>
          </p:nvPr>
        </p:nvSpPr>
        <p:spPr>
          <a:xfrm>
            <a:off x="525312" y="-86681"/>
            <a:ext cx="8229600" cy="1508126"/>
          </a:xfrm>
        </p:spPr>
        <p:txBody>
          <a:bodyPr/>
          <a:lstStyle/>
          <a:p>
            <a:r>
              <a:rPr lang="en-IN" dirty="0"/>
              <a:t>Guide's Approval</a:t>
            </a:r>
          </a:p>
        </p:txBody>
      </p:sp>
      <p:sp>
        <p:nvSpPr>
          <p:cNvPr id="4" name="Content">
            <a:extLst>
              <a:ext uri="{FF2B5EF4-FFF2-40B4-BE49-F238E27FC236}">
                <a16:creationId xmlns:a16="http://schemas.microsoft.com/office/drawing/2014/main" id="{3EEF1E8A-EF8D-71D9-33EF-B8BFC83BBAEB}"/>
              </a:ext>
            </a:extLst>
          </p:cNvPr>
          <p:cNvSpPr txBox="1">
            <a:spLocks/>
          </p:cNvSpPr>
          <p:nvPr/>
        </p:nvSpPr>
        <p:spPr>
          <a:xfrm>
            <a:off x="687754" y="1416077"/>
            <a:ext cx="7772400" cy="44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a:lstStyle>
          <a:p>
            <a:pPr algn="l" hangingPunct="1"/>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BDC9B6C-D937-D21A-80D2-244BD14D1176}"/>
              </a:ext>
            </a:extLst>
          </p:cNvPr>
          <p:cNvPicPr>
            <a:picLocks noChangeAspect="1"/>
          </p:cNvPicPr>
          <p:nvPr/>
        </p:nvPicPr>
        <p:blipFill>
          <a:blip r:embed="rId2"/>
          <a:stretch>
            <a:fillRect/>
          </a:stretch>
        </p:blipFill>
        <p:spPr>
          <a:xfrm>
            <a:off x="1246414" y="1224996"/>
            <a:ext cx="6910229" cy="4958089"/>
          </a:xfrm>
          <a:prstGeom prst="rect">
            <a:avLst/>
          </a:prstGeom>
        </p:spPr>
      </p:pic>
    </p:spTree>
    <p:extLst>
      <p:ext uri="{BB962C8B-B14F-4D97-AF65-F5344CB8AC3E}">
        <p14:creationId xmlns:p14="http://schemas.microsoft.com/office/powerpoint/2010/main" val="223283860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b="0" dirty="0">
                <a:solidFill>
                  <a:srgbClr val="000000"/>
                </a:solidFill>
                <a:latin typeface="Times New Roman"/>
              </a:rPr>
              <a:t>Problem Definition</a:t>
            </a:r>
            <a:endParaRPr dirty="0"/>
          </a:p>
        </p:txBody>
      </p:sp>
      <p:sp>
        <p:nvSpPr>
          <p:cNvPr id="3" name="TextBox 2">
            <a:extLst>
              <a:ext uri="{FF2B5EF4-FFF2-40B4-BE49-F238E27FC236}">
                <a16:creationId xmlns:a16="http://schemas.microsoft.com/office/drawing/2014/main" id="{2C0867E2-CBC8-26CB-386D-44EF0F265CFB}"/>
              </a:ext>
            </a:extLst>
          </p:cNvPr>
          <p:cNvSpPr txBox="1"/>
          <p:nvPr/>
        </p:nvSpPr>
        <p:spPr>
          <a:xfrm>
            <a:off x="892629" y="1692729"/>
            <a:ext cx="92396"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278FABA-31A3-8B36-DB82-9DD7F210EF28}"/>
              </a:ext>
            </a:extLst>
          </p:cNvPr>
          <p:cNvSpPr txBox="1"/>
          <p:nvPr/>
        </p:nvSpPr>
        <p:spPr>
          <a:xfrm>
            <a:off x="630132" y="1480457"/>
            <a:ext cx="7828067" cy="4247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Arial" panose="020B0604020202020204" pitchFamily="34" charset="0"/>
              <a:buChar char="•"/>
            </a:pPr>
            <a:r>
              <a:rPr lang="en-IN" sz="1800" dirty="0"/>
              <a:t>Depend heavily on</a:t>
            </a:r>
            <a:r>
              <a:rPr lang="en-IN" sz="1800" b="1" dirty="0"/>
              <a:t> periodic clinical assessments</a:t>
            </a:r>
            <a:r>
              <a:rPr lang="en-IN" sz="1800" dirty="0"/>
              <a:t> Limited </a:t>
            </a:r>
            <a:r>
              <a:rPr lang="en-IN" sz="1800" b="1" dirty="0"/>
              <a:t>continuous monitoring</a:t>
            </a:r>
            <a:r>
              <a:rPr lang="en-IN" sz="1800" dirty="0"/>
              <a:t> of mental-health patterns</a:t>
            </a:r>
          </a:p>
          <a:p>
            <a:pPr marL="285750" indent="-285750" algn="just">
              <a:buFont typeface="Arial" panose="020B0604020202020204" pitchFamily="34" charset="0"/>
              <a:buChar char="•"/>
            </a:pPr>
            <a:endParaRPr lang="en-IN" sz="1800" dirty="0"/>
          </a:p>
          <a:p>
            <a:pPr marL="285750" indent="-285750" algn="just">
              <a:buFont typeface="Arial" panose="020B0604020202020204" pitchFamily="34" charset="0"/>
              <a:buChar char="•"/>
            </a:pPr>
            <a:r>
              <a:rPr lang="en-IN" sz="1800" dirty="0"/>
              <a:t>Difficulty identifying </a:t>
            </a:r>
            <a:r>
              <a:rPr lang="en-IN" sz="1800" b="1" dirty="0"/>
              <a:t>gradual changes in mood and behaviour</a:t>
            </a:r>
            <a:r>
              <a:rPr lang="en-IN" sz="1800" dirty="0"/>
              <a:t> </a:t>
            </a:r>
            <a:br>
              <a:rPr lang="en-IN" sz="1800" dirty="0"/>
            </a:br>
            <a:r>
              <a:rPr lang="en-IN" sz="1800" dirty="0"/>
              <a:t>Existing conversational AI systems may produce </a:t>
            </a:r>
            <a:r>
              <a:rPr lang="en-IN" sz="1800" b="1" dirty="0"/>
              <a:t>unsafe or inappropriate responses</a:t>
            </a:r>
          </a:p>
          <a:p>
            <a:pPr marL="285750" indent="-285750" algn="just">
              <a:buFont typeface="Arial" panose="020B0604020202020204" pitchFamily="34" charset="0"/>
              <a:buChar char="•"/>
            </a:pPr>
            <a:endParaRPr lang="en-IN" sz="1800" b="1" dirty="0"/>
          </a:p>
          <a:p>
            <a:pPr marL="285750" indent="-285750" algn="just">
              <a:buFont typeface="Arial" panose="020B0604020202020204" pitchFamily="34" charset="0"/>
              <a:buChar char="•"/>
            </a:pPr>
            <a:r>
              <a:rPr lang="en-IN" sz="1800" dirty="0"/>
              <a:t>Limited integration of </a:t>
            </a:r>
            <a:r>
              <a:rPr lang="en-IN" sz="1800" b="1" dirty="0"/>
              <a:t>conversation, behavioural signals, and longitudinal data</a:t>
            </a:r>
            <a:endParaRPr lang="en-IN" sz="1800" dirty="0"/>
          </a:p>
          <a:p>
            <a:pPr marL="285750" indent="-285750" algn="just">
              <a:buFont typeface="Arial" panose="020B0604020202020204" pitchFamily="34" charset="0"/>
              <a:buChar char="•"/>
            </a:pPr>
            <a:endParaRPr lang="en-IN" sz="1800" dirty="0"/>
          </a:p>
          <a:p>
            <a:pPr marL="285750" indent="-285750" algn="just">
              <a:buFont typeface="Arial" panose="020B0604020202020204" pitchFamily="34" charset="0"/>
              <a:buChar char="•"/>
            </a:pPr>
            <a:r>
              <a:rPr lang="en-IN" sz="1800" dirty="0"/>
              <a:t>Single-model AI systems often lack </a:t>
            </a:r>
            <a:r>
              <a:rPr lang="en-IN" sz="1800" b="1" dirty="0"/>
              <a:t>safety constraints and clinical explainability</a:t>
            </a:r>
            <a:br>
              <a:rPr lang="en-IN" sz="1800" b="1" dirty="0"/>
            </a:br>
            <a:endParaRPr lang="en-IN" sz="1800" b="1" dirty="0"/>
          </a:p>
          <a:p>
            <a:pPr marL="285750" indent="-285750" algn="just">
              <a:buFont typeface="Arial" panose="020B0604020202020204" pitchFamily="34" charset="0"/>
              <a:buChar char="•"/>
            </a:pPr>
            <a:r>
              <a:rPr lang="en-IN" sz="1800" dirty="0"/>
              <a:t>Existing systems provide limited </a:t>
            </a:r>
            <a:r>
              <a:rPr lang="en-IN" sz="1800" b="1" dirty="0"/>
              <a:t>personalized early-warning support</a:t>
            </a:r>
            <a:r>
              <a:rPr lang="en-IN" sz="1800" dirty="0"/>
              <a:t> </a:t>
            </a:r>
            <a:br>
              <a:rPr lang="en-IN" sz="1800" dirty="0"/>
            </a:b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5FDD1-DA18-5CF1-AFCB-36E16A3CDCDC}"/>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01C4A38C-1C35-3DBD-EDFD-EC45053B3B6D}"/>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42" name="Rectangle">
            <a:extLst>
              <a:ext uri="{FF2B5EF4-FFF2-40B4-BE49-F238E27FC236}">
                <a16:creationId xmlns:a16="http://schemas.microsoft.com/office/drawing/2014/main" id="{53D540BF-5BD0-5001-4588-D190513351DE}"/>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a:extLst>
              <a:ext uri="{FF2B5EF4-FFF2-40B4-BE49-F238E27FC236}">
                <a16:creationId xmlns:a16="http://schemas.microsoft.com/office/drawing/2014/main" id="{B49FC317-D726-D4D0-91CA-98572F565962}"/>
              </a:ext>
            </a:extLst>
          </p:cNvPr>
          <p:cNvSpPr txBox="1">
            <a:spLocks noGrp="1"/>
          </p:cNvSpPr>
          <p:nvPr/>
        </p:nvSpPr>
        <p:spPr>
          <a:xfrm>
            <a:off x="685800" y="457200"/>
            <a:ext cx="7772400" cy="685800"/>
          </a:xfrm>
          <a:prstGeom prst="rect">
            <a:avLst/>
          </a:prstGeom>
          <a:noFill/>
        </p:spPr>
        <p:txBody>
          <a:bodyPr anchor="ctr"/>
          <a:lstStyle/>
          <a:p>
            <a:pPr algn="ctr"/>
            <a:r>
              <a:rPr lang="en-US" sz="2800" b="0" dirty="0">
                <a:solidFill>
                  <a:srgbClr val="000000"/>
                </a:solidFill>
                <a:latin typeface="Times New Roman"/>
              </a:rPr>
              <a:t>Problem Definition</a:t>
            </a:r>
            <a:endParaRPr dirty="0"/>
          </a:p>
        </p:txBody>
      </p:sp>
      <p:sp>
        <p:nvSpPr>
          <p:cNvPr id="2" name="TextBox 1">
            <a:extLst>
              <a:ext uri="{FF2B5EF4-FFF2-40B4-BE49-F238E27FC236}">
                <a16:creationId xmlns:a16="http://schemas.microsoft.com/office/drawing/2014/main" id="{BB200F3D-2CB2-2180-0F78-C30FC3A83951}"/>
              </a:ext>
            </a:extLst>
          </p:cNvPr>
          <p:cNvSpPr txBox="1"/>
          <p:nvPr/>
        </p:nvSpPr>
        <p:spPr>
          <a:xfrm>
            <a:off x="947057" y="1665514"/>
            <a:ext cx="92396"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2490B97-FC13-86B0-B055-2D28F9EEF30F}"/>
              </a:ext>
            </a:extLst>
          </p:cNvPr>
          <p:cNvSpPr txBox="1"/>
          <p:nvPr/>
        </p:nvSpPr>
        <p:spPr>
          <a:xfrm>
            <a:off x="655830" y="1665513"/>
            <a:ext cx="7954770"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IN" sz="2000" b="1" u="sng" dirty="0"/>
              <a:t>There is a need for</a:t>
            </a:r>
          </a:p>
          <a:p>
            <a:pPr marL="285750" indent="-285750">
              <a:buFont typeface="Arial" panose="020B0604020202020204" pitchFamily="34" charset="0"/>
              <a:buChar char="•"/>
            </a:pP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a:p>
            <a:pPr marL="285750" indent="-285750">
              <a:buFont typeface="Arial" panose="020B0604020202020204" pitchFamily="34" charset="0"/>
              <a:buChar char="•"/>
            </a:pPr>
            <a:r>
              <a:rPr lang="en-IN" sz="1800" dirty="0"/>
              <a:t>Continuous and personalized mental-health monitoring</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Multimodal AI-based behavioural analysis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Safety-gated conversational support</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Early identification of concerning changes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Human-in-the-loop clinical decision support</a:t>
            </a:r>
            <a:br>
              <a:rPr lang="en-IN" sz="1800" dirty="0"/>
            </a:br>
            <a:endParaRPr kumimoji="0" lang="en-IN" sz="18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41276960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141" name="Content"/>
          <p:cNvSpPr txBox="1">
            <a:spLocks noGrp="1"/>
          </p:cNvSpPr>
          <p:nvPr>
            <p:ph type="title"/>
          </p:nvPr>
        </p:nvSpPr>
        <p:spPr>
          <a:xfrm>
            <a:off x="635176" y="1295400"/>
            <a:ext cx="8132306" cy="5024718"/>
          </a:xfrm>
          <a:prstGeom prst="rect">
            <a:avLst/>
          </a:prstGeom>
        </p:spPr>
        <p:txBody>
          <a:bodyPr>
            <a:normAutofit/>
          </a:bodyPr>
          <a:lstStyle/>
          <a:p>
            <a:pPr algn="l"/>
            <a:br>
              <a:rPr lang="en-IN" sz="1600" b="1" dirty="0"/>
            </a:br>
            <a:r>
              <a:rPr lang="en-IN" sz="1600" dirty="0"/>
              <a:t>Mental-health conditions such as anxiety, depression, mood disorders, and stress can significantly affect an individual's daily life, behaviour, and emotional well-being.</a:t>
            </a:r>
            <a:br>
              <a:rPr lang="en-IN" sz="1600" dirty="0"/>
            </a:br>
            <a:br>
              <a:rPr lang="en-IN" sz="1600" b="1" dirty="0"/>
            </a:br>
            <a:r>
              <a:rPr lang="en-IN" sz="1600" b="1" dirty="0"/>
              <a:t>Traditional mental-health monitoring:</a:t>
            </a:r>
            <a:br>
              <a:rPr lang="en-IN" sz="1600" b="1" dirty="0"/>
            </a:br>
            <a:br>
              <a:rPr lang="en-IN" sz="1600" dirty="0"/>
            </a:br>
            <a:r>
              <a:rPr lang="en-IN" sz="1600" dirty="0"/>
              <a:t>Requires </a:t>
            </a:r>
            <a:r>
              <a:rPr lang="en-IN" sz="1600" b="1" dirty="0"/>
              <a:t>periodic clinical assessments</a:t>
            </a:r>
            <a:br>
              <a:rPr lang="en-IN" sz="1600" b="1" dirty="0"/>
            </a:br>
            <a:r>
              <a:rPr lang="en-IN" sz="1600" dirty="0"/>
              <a:t> </a:t>
            </a:r>
            <a:br>
              <a:rPr lang="en-IN" sz="1600" dirty="0"/>
            </a:br>
            <a:r>
              <a:rPr lang="en-IN" sz="1600" dirty="0"/>
              <a:t>May miss </a:t>
            </a:r>
            <a:r>
              <a:rPr lang="en-IN" sz="1600" b="1" dirty="0"/>
              <a:t>gradual behavioural and emotional changes</a:t>
            </a:r>
            <a:br>
              <a:rPr lang="en-IN" sz="1600" b="1" dirty="0"/>
            </a:br>
            <a:r>
              <a:rPr lang="en-IN" sz="1600" dirty="0"/>
              <a:t> </a:t>
            </a:r>
            <a:br>
              <a:rPr lang="en-IN" sz="1600" dirty="0"/>
            </a:br>
            <a:r>
              <a:rPr lang="en-IN" sz="1600" dirty="0"/>
              <a:t>Provides limited </a:t>
            </a:r>
            <a:r>
              <a:rPr lang="en-IN" sz="1600" b="1" dirty="0"/>
              <a:t>continuous monitoring</a:t>
            </a:r>
            <a:r>
              <a:rPr lang="en-IN" sz="1600" dirty="0"/>
              <a:t> </a:t>
            </a:r>
            <a:br>
              <a:rPr lang="en-IN" sz="1600" dirty="0"/>
            </a:br>
            <a:br>
              <a:rPr lang="en-IN" sz="1600" dirty="0"/>
            </a:br>
            <a:r>
              <a:rPr lang="en-IN" sz="2000" b="1" u="sng" dirty="0"/>
              <a:t>This System Addresses This Challenge Using:</a:t>
            </a:r>
            <a:br>
              <a:rPr lang="en-IN" sz="1600" dirty="0"/>
            </a:br>
            <a:r>
              <a:rPr lang="en-IN" sz="1600" dirty="0"/>
              <a:t>Natural Language Processing &amp; LLMs </a:t>
            </a:r>
            <a:br>
              <a:rPr lang="en-IN" sz="1600" dirty="0"/>
            </a:br>
            <a:r>
              <a:rPr lang="en-IN" sz="1600" dirty="0"/>
              <a:t>Multimodal mental-health analysis  </a:t>
            </a:r>
            <a:br>
              <a:rPr lang="en-IN" sz="1600" dirty="0"/>
            </a:br>
            <a:r>
              <a:rPr lang="en-IN" sz="1600" dirty="0"/>
              <a:t>Safety-gated conversational support </a:t>
            </a:r>
            <a:br>
              <a:rPr lang="en-IN" sz="1600" dirty="0"/>
            </a:br>
            <a:br>
              <a:rPr lang="en-IN" sz="1600" dirty="0"/>
            </a:br>
            <a:endParaRPr lang="en-US" sz="1600" dirty="0">
              <a:latin typeface="Times New Roman" panose="02020603050405020304" pitchFamily="18" charset="0"/>
              <a:cs typeface="Times New Roman" panose="02020603050405020304" pitchFamily="18" charset="0"/>
            </a:endParaRPr>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dirty="0">
                <a:solidFill>
                  <a:srgbClr val="404040"/>
                </a:solidFill>
                <a:latin typeface="Times New Roman"/>
                <a:ea typeface="Times New Roman"/>
                <a:cs typeface="Times New Roman"/>
              </a:rPr>
              <a:t>Introduction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B1110E8-908F-BF00-E59B-E1796BDCB13B}"/>
              </a:ext>
            </a:extLst>
          </p:cNvPr>
          <p:cNvSpPr>
            <a:spLocks noGrp="1"/>
          </p:cNvSpPr>
          <p:nvPr>
            <p:ph type="title"/>
          </p:nvPr>
        </p:nvSpPr>
        <p:spPr/>
        <p:txBody>
          <a:bodyPr/>
          <a:lstStyle/>
          <a:p>
            <a:r>
              <a:rPr lang="en-IN" dirty="0"/>
              <a:t>Literature Survey</a:t>
            </a:r>
          </a:p>
        </p:txBody>
      </p:sp>
      <p:pic>
        <p:nvPicPr>
          <p:cNvPr id="12" name="Picture 11">
            <a:extLst>
              <a:ext uri="{FF2B5EF4-FFF2-40B4-BE49-F238E27FC236}">
                <a16:creationId xmlns:a16="http://schemas.microsoft.com/office/drawing/2014/main" id="{47AB372D-0006-654B-66F5-93F5820371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76422"/>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18883" y="381000"/>
            <a:ext cx="191717"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IN" dirty="0"/>
              <a:t>7</a:t>
            </a:r>
            <a:endParaRPr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dirty="0">
                <a:solidFill>
                  <a:srgbClr val="404040"/>
                </a:solidFill>
                <a:latin typeface="Times New Roman"/>
                <a:ea typeface="Times New Roman"/>
                <a:cs typeface="Times New Roman"/>
              </a:rPr>
              <a:t>Objectives</a:t>
            </a:r>
          </a:p>
        </p:txBody>
      </p:sp>
      <p:sp>
        <p:nvSpPr>
          <p:cNvPr id="4" name="TextBox 3">
            <a:extLst>
              <a:ext uri="{FF2B5EF4-FFF2-40B4-BE49-F238E27FC236}">
                <a16:creationId xmlns:a16="http://schemas.microsoft.com/office/drawing/2014/main" id="{E3E3ADEB-5988-DC73-24B7-CEF49D635213}"/>
              </a:ext>
            </a:extLst>
          </p:cNvPr>
          <p:cNvSpPr txBox="1"/>
          <p:nvPr/>
        </p:nvSpPr>
        <p:spPr>
          <a:xfrm>
            <a:off x="778759" y="1947471"/>
            <a:ext cx="7586482"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sz="1700" b="1">
                <a:latin typeface="Times New Roman"/>
              </a:defRPr>
            </a:pPr>
            <a:endParaRPr lang="en-US" sz="1400" dirty="0"/>
          </a:p>
        </p:txBody>
      </p:sp>
      <p:sp>
        <p:nvSpPr>
          <p:cNvPr id="5" name="TextBox 4">
            <a:extLst>
              <a:ext uri="{FF2B5EF4-FFF2-40B4-BE49-F238E27FC236}">
                <a16:creationId xmlns:a16="http://schemas.microsoft.com/office/drawing/2014/main" id="{9947DF29-E113-01A9-B635-247E8900E54F}"/>
              </a:ext>
            </a:extLst>
          </p:cNvPr>
          <p:cNvSpPr txBox="1"/>
          <p:nvPr/>
        </p:nvSpPr>
        <p:spPr>
          <a:xfrm>
            <a:off x="626359" y="1143000"/>
            <a:ext cx="7721776" cy="50167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lvl="0" indent="-285750">
              <a:buFont typeface="Arial" panose="020B0604020202020204" pitchFamily="34" charset="0"/>
              <a:buChar char="•"/>
            </a:pPr>
            <a:r>
              <a:rPr lang="en-IN" sz="1600" dirty="0"/>
              <a:t>Develop an </a:t>
            </a:r>
            <a:r>
              <a:rPr lang="en-IN" sz="1600" b="1" dirty="0"/>
              <a:t>AI-assisted mental-health support and monitoring platform</a:t>
            </a:r>
          </a:p>
          <a:p>
            <a:pPr lvl="0"/>
            <a:r>
              <a:rPr lang="en-IN" sz="1600" dirty="0"/>
              <a:t> </a:t>
            </a:r>
          </a:p>
          <a:p>
            <a:pPr marL="285750" lvl="0" indent="-285750">
              <a:buFont typeface="Arial" panose="020B0604020202020204" pitchFamily="34" charset="0"/>
              <a:buChar char="•"/>
            </a:pPr>
            <a:r>
              <a:rPr lang="en-IN" sz="1600" dirty="0"/>
              <a:t>Implement a </a:t>
            </a:r>
            <a:r>
              <a:rPr lang="en-IN" sz="1600" b="1" dirty="0"/>
              <a:t>multimodal data processing pipeline</a:t>
            </a:r>
            <a:r>
              <a:rPr lang="en-IN" sz="1600" dirty="0"/>
              <a:t> for text, voice, self-reports, and optional </a:t>
            </a:r>
            <a:r>
              <a:rPr lang="en-IN" sz="1600" dirty="0" err="1"/>
              <a:t>behavioral</a:t>
            </a:r>
            <a:r>
              <a:rPr lang="en-IN" sz="1600" dirty="0"/>
              <a:t> signals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Develop </a:t>
            </a:r>
            <a:r>
              <a:rPr lang="en-IN" sz="1600" b="1" dirty="0"/>
              <a:t>NLP/LLM-based conversational support</a:t>
            </a:r>
            <a:r>
              <a:rPr lang="en-IN" sz="1600" dirty="0"/>
              <a:t> with controlled response generation</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Develop a </a:t>
            </a:r>
            <a:r>
              <a:rPr lang="en-IN" sz="1600" b="1" dirty="0"/>
              <a:t>safety-gated strategy planner</a:t>
            </a:r>
            <a:r>
              <a:rPr lang="en-IN" sz="1600" dirty="0"/>
              <a:t> for selecting appropriate support interventions</a:t>
            </a:r>
          </a:p>
          <a:p>
            <a:pPr lvl="0"/>
            <a:r>
              <a:rPr lang="en-IN" sz="1600" dirty="0"/>
              <a:t> </a:t>
            </a:r>
          </a:p>
          <a:p>
            <a:pPr marL="285750" lvl="0" indent="-285750">
              <a:buFont typeface="Arial" panose="020B0604020202020204" pitchFamily="34" charset="0"/>
              <a:buChar char="•"/>
            </a:pPr>
            <a:r>
              <a:rPr lang="en-IN" sz="1600" dirty="0"/>
              <a:t>Detect </a:t>
            </a:r>
            <a:r>
              <a:rPr lang="en-IN" sz="1600" b="1" dirty="0"/>
              <a:t>significant deviations from individual behavioural baselines</a:t>
            </a:r>
            <a:r>
              <a:rPr lang="en-IN" sz="1600" dirty="0"/>
              <a:t>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Implement </a:t>
            </a:r>
            <a:r>
              <a:rPr lang="en-IN" sz="1600" b="1" dirty="0"/>
              <a:t>crisis detection and human-escalation mechanisms</a:t>
            </a:r>
            <a:r>
              <a:rPr lang="en-IN" sz="1600" dirty="0"/>
              <a:t>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Develop </a:t>
            </a:r>
            <a:r>
              <a:rPr lang="en-IN" sz="1600" b="1" dirty="0" err="1"/>
              <a:t>ZenovaSafe</a:t>
            </a:r>
            <a:r>
              <a:rPr lang="en-IN" sz="1600" dirty="0"/>
              <a:t>, an adversarial safety evaluation benchmark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Provide an </a:t>
            </a:r>
            <a:r>
              <a:rPr lang="en-IN" sz="1600" b="1" dirty="0"/>
              <a:t>explainable clinician dashboard</a:t>
            </a:r>
            <a:r>
              <a:rPr lang="en-IN" sz="1600" dirty="0"/>
              <a:t> for longitudinal mental-health insights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Evaluate the system for </a:t>
            </a:r>
            <a:r>
              <a:rPr lang="en-IN" sz="1600" b="1" dirty="0"/>
              <a:t>accuracy, personalization, safety, reliability, and response quality</a:t>
            </a:r>
            <a:endParaRPr lang="en-IN" sz="1600" dirty="0"/>
          </a:p>
          <a:p>
            <a:pPr marL="342900" indent="-342900">
              <a:buFont typeface="Arial" panose="020B0604020202020204" pitchFamily="34" charset="0"/>
              <a:buChar char="•"/>
            </a:pPr>
            <a:endParaRPr kumimoji="0" lang="en-US" sz="16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roup"/>
          <p:cNvSpPr/>
          <p:nvPr/>
        </p:nvSpPr>
        <p:spPr>
          <a:xfrm>
            <a:off x="838200" y="1382596"/>
            <a:ext cx="7772400" cy="38100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pPr marL="285750" lvl="0" indent="-285750">
              <a:buFont typeface="Arial" panose="020B0604020202020204" pitchFamily="34" charset="0"/>
              <a:buChar char="•"/>
            </a:pPr>
            <a:r>
              <a:rPr lang="en-IN" sz="1600" dirty="0"/>
              <a:t>Mental-health conditions can involve </a:t>
            </a:r>
            <a:r>
              <a:rPr lang="en-IN" sz="1600" b="1" dirty="0"/>
              <a:t>gradual changes in mood, behaviour, sleep, and daily routines</a:t>
            </a:r>
            <a:r>
              <a:rPr lang="en-IN" sz="1600" dirty="0"/>
              <a:t> that may not be captured during periodic clinical assessments.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Existing conversational AI systems can provide accessible support, but may produce </a:t>
            </a:r>
            <a:r>
              <a:rPr lang="en-IN" sz="1600" b="1" dirty="0"/>
              <a:t>unsafe, inappropriate, or overly agreeable responses</a:t>
            </a:r>
            <a:r>
              <a:rPr lang="en-IN" sz="1600" dirty="0"/>
              <a:t>.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Current digital-phenotyping systems can monitor behavioural patterns, but are often </a:t>
            </a:r>
            <a:r>
              <a:rPr lang="en-IN" sz="1600" b="1" dirty="0"/>
              <a:t>separated from conversational intervention systems</a:t>
            </a:r>
            <a:r>
              <a:rPr lang="en-IN" sz="1600" dirty="0"/>
              <a:t>.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A </a:t>
            </a:r>
            <a:r>
              <a:rPr lang="en-IN" sz="1600" b="1" dirty="0"/>
              <a:t>personalized baseline</a:t>
            </a:r>
            <a:r>
              <a:rPr lang="en-IN" sz="1600" dirty="0"/>
              <a:t> can help identify meaningful changes relative to an individual's normal behaviour rather than applying the same threshold to every user.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Mental-health AI requires </a:t>
            </a:r>
            <a:r>
              <a:rPr lang="en-IN" sz="1600" b="1" dirty="0"/>
              <a:t>strong safety mechanisms, human oversight, and explainability</a:t>
            </a:r>
            <a:r>
              <a:rPr lang="en-IN" sz="1600" dirty="0"/>
              <a:t> before it can be responsibly used. </a:t>
            </a:r>
          </a:p>
          <a:p>
            <a:pPr marL="285750" lvl="0" indent="-285750">
              <a:buFont typeface="Arial" panose="020B0604020202020204" pitchFamily="34" charset="0"/>
              <a:buChar char="•"/>
            </a:pPr>
            <a:endParaRPr lang="en-IN" sz="1600" dirty="0"/>
          </a:p>
          <a:p>
            <a:pPr marL="285750" lvl="0" indent="-285750">
              <a:buFont typeface="Arial" panose="020B0604020202020204" pitchFamily="34" charset="0"/>
              <a:buChar char="•"/>
            </a:pPr>
            <a:r>
              <a:rPr lang="en-IN" sz="1600" dirty="0"/>
              <a:t>Combining </a:t>
            </a:r>
            <a:r>
              <a:rPr lang="en-IN" sz="1600" b="1" dirty="0"/>
              <a:t>multimodal monitoring, longitudinal analysis, conversational AI, safety gating, and professional escalation</a:t>
            </a:r>
            <a:r>
              <a:rPr lang="en-IN" sz="1600" dirty="0"/>
              <a:t> can provide more comprehensive support.</a:t>
            </a:r>
          </a:p>
          <a:p>
            <a:pPr marL="285750" indent="-285750">
              <a:buFont typeface="Arial" panose="020B0604020202020204" pitchFamily="34" charset="0"/>
              <a:buChar char="•"/>
              <a:defRPr sz="1700" b="1">
                <a:latin typeface="Times New Roman"/>
              </a:defRPr>
            </a:pPr>
            <a:endParaRPr sz="1550" dirty="0"/>
          </a:p>
        </p:txBody>
      </p:sp>
      <p:sp>
        <p:nvSpPr>
          <p:cNvPr id="5" name="Slide Number"/>
          <p:cNvSpPr txBox="1">
            <a:spLocks noGrp="1"/>
          </p:cNvSpPr>
          <p:nvPr>
            <p:ph type="sldNum" sz="quarter" idx="2"/>
          </p:nvPr>
        </p:nvSpPr>
        <p:spPr>
          <a:xfrm>
            <a:off x="8418883" y="381000"/>
            <a:ext cx="191717"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8</a:t>
            </a:r>
            <a:endParaRPr dirty="0"/>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b="0" dirty="0">
                <a:solidFill>
                  <a:srgbClr val="000000"/>
                </a:solidFill>
                <a:latin typeface="Times New Roman"/>
              </a:rPr>
              <a:t>Justification for the Proposed Problem</a:t>
            </a:r>
            <a:endParaRPr dirty="0"/>
          </a:p>
        </p:txBody>
      </p:sp>
      <p:sp>
        <p:nvSpPr>
          <p:cNvPr id="2" name="TextBox 1">
            <a:extLst>
              <a:ext uri="{FF2B5EF4-FFF2-40B4-BE49-F238E27FC236}">
                <a16:creationId xmlns:a16="http://schemas.microsoft.com/office/drawing/2014/main" id="{42BBF0B6-EC9F-0210-6E25-70C5AFC99602}"/>
              </a:ext>
            </a:extLst>
          </p:cNvPr>
          <p:cNvSpPr txBox="1"/>
          <p:nvPr/>
        </p:nvSpPr>
        <p:spPr>
          <a:xfrm>
            <a:off x="685800" y="5782235"/>
            <a:ext cx="7924800"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IN" b="1" dirty="0"/>
              <a:t>The system proposes a unified framework that connects behavioural changes with safe, personalized conversational support while keeping human professionals in the loop.</a:t>
            </a:r>
            <a:endParaRPr kumimoji="0" lang="en-IN" sz="1400" b="1"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91841883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2D82-46EE-2093-23DE-59DF4F1A589C}"/>
            </a:ext>
          </a:extLst>
        </p:cNvPr>
        <p:cNvGrpSpPr/>
        <p:nvPr/>
      </p:nvGrpSpPr>
      <p:grpSpPr>
        <a:xfrm>
          <a:off x="0" y="0"/>
          <a:ext cx="0" cy="0"/>
          <a:chOff x="0" y="0"/>
          <a:chExt cx="0" cy="0"/>
        </a:xfrm>
      </p:grpSpPr>
      <p:sp>
        <p:nvSpPr>
          <p:cNvPr id="4" name="Group">
            <a:extLst>
              <a:ext uri="{FF2B5EF4-FFF2-40B4-BE49-F238E27FC236}">
                <a16:creationId xmlns:a16="http://schemas.microsoft.com/office/drawing/2014/main" id="{3E0AF3FE-C812-196D-3A19-7BFE5E6508CA}"/>
              </a:ext>
            </a:extLst>
          </p:cNvPr>
          <p:cNvSpPr/>
          <p:nvPr/>
        </p:nvSpPr>
        <p:spPr>
          <a:xfrm>
            <a:off x="742341" y="1393371"/>
            <a:ext cx="7772400" cy="38100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pPr algn="ctr">
              <a:defRPr sz="1700" b="1">
                <a:latin typeface="Times New Roman"/>
              </a:defRPr>
            </a:pPr>
            <a:endParaRPr sz="1550" dirty="0"/>
          </a:p>
        </p:txBody>
      </p:sp>
      <p:sp>
        <p:nvSpPr>
          <p:cNvPr id="5" name="Slide Number">
            <a:extLst>
              <a:ext uri="{FF2B5EF4-FFF2-40B4-BE49-F238E27FC236}">
                <a16:creationId xmlns:a16="http://schemas.microsoft.com/office/drawing/2014/main" id="{E1FB37A6-CE63-6151-FB8A-912ED19A837F}"/>
              </a:ext>
            </a:extLst>
          </p:cNvPr>
          <p:cNvSpPr txBox="1">
            <a:spLocks noGrp="1"/>
          </p:cNvSpPr>
          <p:nvPr>
            <p:ph type="sldNum" sz="quarter" idx="2"/>
          </p:nvPr>
        </p:nvSpPr>
        <p:spPr>
          <a:xfrm>
            <a:off x="8418883" y="381000"/>
            <a:ext cx="191717"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9</a:t>
            </a:r>
            <a:endParaRPr dirty="0"/>
          </a:p>
        </p:txBody>
      </p:sp>
      <p:sp>
        <p:nvSpPr>
          <p:cNvPr id="950" name="TitleBox"/>
          <p:cNvSpPr txBox="1">
            <a:spLocks noGrp="1"/>
          </p:cNvSpPr>
          <p:nvPr/>
        </p:nvSpPr>
        <p:spPr>
          <a:xfrm>
            <a:off x="647609" y="358995"/>
            <a:ext cx="7772400" cy="685800"/>
          </a:xfrm>
          <a:prstGeom prst="rect">
            <a:avLst/>
          </a:prstGeom>
          <a:noFill/>
        </p:spPr>
        <p:txBody>
          <a:bodyPr lIns="91440" tIns="45720" rIns="91440" bIns="45720" anchor="ctr"/>
          <a:lstStyle/>
          <a:p>
            <a:pPr algn="ctr"/>
            <a:r>
              <a:rPr lang="en-US" sz="2800" b="0" dirty="0">
                <a:solidFill>
                  <a:srgbClr val="000000"/>
                </a:solidFill>
                <a:latin typeface="Times New Roman"/>
              </a:rPr>
              <a:t>Architecture </a:t>
            </a:r>
            <a:r>
              <a:rPr lang="en-US" sz="2800" dirty="0"/>
              <a:t>of the</a:t>
            </a:r>
            <a:r>
              <a:rPr lang="en-US" sz="2800" b="0" dirty="0">
                <a:solidFill>
                  <a:srgbClr val="000000"/>
                </a:solidFill>
                <a:latin typeface="Times New Roman"/>
              </a:rPr>
              <a:t> Proposed System</a:t>
            </a:r>
            <a:endParaRPr dirty="0"/>
          </a:p>
        </p:txBody>
      </p:sp>
      <p:pic>
        <p:nvPicPr>
          <p:cNvPr id="6" name="Picture 5">
            <a:extLst>
              <a:ext uri="{FF2B5EF4-FFF2-40B4-BE49-F238E27FC236}">
                <a16:creationId xmlns:a16="http://schemas.microsoft.com/office/drawing/2014/main" id="{9C649045-14B9-3548-6286-0533ECB4F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7537"/>
            <a:ext cx="9144000" cy="545837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87521188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C526-5B57-0192-D28A-0854D02C036A}"/>
            </a:ext>
          </a:extLst>
        </p:cNvPr>
        <p:cNvGrpSpPr/>
        <p:nvPr/>
      </p:nvGrpSpPr>
      <p:grpSpPr>
        <a:xfrm>
          <a:off x="0" y="0"/>
          <a:ext cx="0" cy="0"/>
          <a:chOff x="0" y="0"/>
          <a:chExt cx="0" cy="0"/>
        </a:xfrm>
      </p:grpSpPr>
      <p:sp>
        <p:nvSpPr>
          <p:cNvPr id="4" name="Group">
            <a:extLst>
              <a:ext uri="{FF2B5EF4-FFF2-40B4-BE49-F238E27FC236}">
                <a16:creationId xmlns:a16="http://schemas.microsoft.com/office/drawing/2014/main" id="{8FC8B824-A607-F0BA-61F1-6F8A38484007}"/>
              </a:ext>
            </a:extLst>
          </p:cNvPr>
          <p:cNvSpPr/>
          <p:nvPr/>
        </p:nvSpPr>
        <p:spPr>
          <a:xfrm>
            <a:off x="742341" y="1320093"/>
            <a:ext cx="7772400" cy="38100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lang="en-IN" sz="1600" b="1" dirty="0"/>
              <a:t>Module 1 — Multimodal Data Collection</a:t>
            </a:r>
          </a:p>
          <a:p>
            <a:pPr marL="285750" lvl="0" indent="-285750">
              <a:buFont typeface="Arial" panose="020B0604020202020204" pitchFamily="34" charset="0"/>
              <a:buChar char="•"/>
            </a:pPr>
            <a:r>
              <a:rPr lang="en-IN" sz="1600" dirty="0"/>
              <a:t>Text &amp; conversations </a:t>
            </a:r>
          </a:p>
          <a:p>
            <a:pPr marL="285750" lvl="0" indent="-285750">
              <a:buFont typeface="Arial" panose="020B0604020202020204" pitchFamily="34" charset="0"/>
              <a:buChar char="•"/>
            </a:pPr>
            <a:r>
              <a:rPr lang="en-IN" sz="1600" dirty="0"/>
              <a:t>Journal entries </a:t>
            </a:r>
          </a:p>
          <a:p>
            <a:pPr marL="285750" lvl="0" indent="-285750">
              <a:buFont typeface="Arial" panose="020B0604020202020204" pitchFamily="34" charset="0"/>
              <a:buChar char="•"/>
            </a:pPr>
            <a:r>
              <a:rPr lang="en-IN" sz="1600" dirty="0"/>
              <a:t>Optional behavioural signals </a:t>
            </a:r>
          </a:p>
          <a:p>
            <a:r>
              <a:rPr lang="en-IN" sz="1600" b="1" dirty="0"/>
              <a:t>Module 2 — AI-Based Mental Health Analysis</a:t>
            </a:r>
          </a:p>
          <a:p>
            <a:pPr marL="285750" lvl="0" indent="-285750">
              <a:buFont typeface="Arial" panose="020B0604020202020204" pitchFamily="34" charset="0"/>
              <a:buChar char="•"/>
            </a:pPr>
            <a:r>
              <a:rPr lang="en-IN" sz="1600" dirty="0"/>
              <a:t>Emotion &amp; sentiment analysis </a:t>
            </a:r>
          </a:p>
          <a:p>
            <a:pPr marL="285750" lvl="0" indent="-285750">
              <a:buFont typeface="Arial" panose="020B0604020202020204" pitchFamily="34" charset="0"/>
              <a:buChar char="•"/>
            </a:pPr>
            <a:r>
              <a:rPr lang="en-IN" sz="1600" dirty="0"/>
              <a:t>Mood analysis </a:t>
            </a:r>
          </a:p>
          <a:p>
            <a:pPr marL="285750" lvl="0" indent="-285750">
              <a:buFont typeface="Arial" panose="020B0604020202020204" pitchFamily="34" charset="0"/>
              <a:buChar char="•"/>
            </a:pPr>
            <a:r>
              <a:rPr lang="en-IN" sz="1600" dirty="0"/>
              <a:t>Behavioural pattern detection </a:t>
            </a:r>
          </a:p>
          <a:p>
            <a:pPr marL="285750" lvl="0" indent="-285750">
              <a:buFont typeface="Arial" panose="020B0604020202020204" pitchFamily="34" charset="0"/>
              <a:buChar char="•"/>
            </a:pPr>
            <a:r>
              <a:rPr lang="en-IN" sz="1600" dirty="0"/>
              <a:t>Personal baseline tracking </a:t>
            </a:r>
          </a:p>
          <a:p>
            <a:r>
              <a:rPr lang="en-IN" sz="1600" b="1" dirty="0"/>
              <a:t>Module 3 — Safety &amp; Strategy Engine</a:t>
            </a:r>
          </a:p>
          <a:p>
            <a:pPr marL="285750" lvl="0" indent="-285750">
              <a:buFont typeface="Arial" panose="020B0604020202020204" pitchFamily="34" charset="0"/>
              <a:buChar char="•"/>
            </a:pPr>
            <a:r>
              <a:rPr lang="en-IN" sz="1600" dirty="0"/>
              <a:t>Risk detection </a:t>
            </a:r>
          </a:p>
          <a:p>
            <a:pPr marL="285750" lvl="0" indent="-285750">
              <a:buFont typeface="Arial" panose="020B0604020202020204" pitchFamily="34" charset="0"/>
              <a:buChar char="•"/>
            </a:pPr>
            <a:r>
              <a:rPr lang="en-IN" sz="1600" dirty="0"/>
              <a:t>Delusion detection </a:t>
            </a:r>
          </a:p>
          <a:p>
            <a:pPr marL="285750" lvl="0" indent="-285750">
              <a:buFont typeface="Arial" panose="020B0604020202020204" pitchFamily="34" charset="0"/>
              <a:buChar char="•"/>
            </a:pPr>
            <a:r>
              <a:rPr lang="en-IN" sz="1600" dirty="0"/>
              <a:t>Safety checks </a:t>
            </a:r>
          </a:p>
          <a:p>
            <a:pPr marL="285750" lvl="0" indent="-285750">
              <a:buFont typeface="Arial" panose="020B0604020202020204" pitchFamily="34" charset="0"/>
              <a:buChar char="•"/>
            </a:pPr>
            <a:r>
              <a:rPr lang="en-IN" sz="1600" dirty="0"/>
              <a:t>Support strategy selection</a:t>
            </a:r>
          </a:p>
        </p:txBody>
      </p:sp>
      <p:sp>
        <p:nvSpPr>
          <p:cNvPr id="5" name="Slide Number">
            <a:extLst>
              <a:ext uri="{FF2B5EF4-FFF2-40B4-BE49-F238E27FC236}">
                <a16:creationId xmlns:a16="http://schemas.microsoft.com/office/drawing/2014/main" id="{42D54671-AAB9-65C1-4E77-0685C97E739B}"/>
              </a:ext>
            </a:extLst>
          </p:cNvPr>
          <p:cNvSpPr txBox="1">
            <a:spLocks noGrp="1"/>
          </p:cNvSpPr>
          <p:nvPr>
            <p:ph type="sldNum" sz="quarter" idx="2"/>
          </p:nvPr>
        </p:nvSpPr>
        <p:spPr>
          <a:xfrm>
            <a:off x="8319432" y="381000"/>
            <a:ext cx="291168" cy="52322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10</a:t>
            </a:r>
          </a:p>
          <a:p>
            <a:endParaRPr dirty="0"/>
          </a:p>
        </p:txBody>
      </p:sp>
      <p:sp>
        <p:nvSpPr>
          <p:cNvPr id="950" name="TitleBox"/>
          <p:cNvSpPr txBox="1">
            <a:spLocks noGrp="1"/>
          </p:cNvSpPr>
          <p:nvPr/>
        </p:nvSpPr>
        <p:spPr>
          <a:xfrm>
            <a:off x="789213" y="426357"/>
            <a:ext cx="7772400" cy="685800"/>
          </a:xfrm>
          <a:prstGeom prst="rect">
            <a:avLst/>
          </a:prstGeom>
          <a:noFill/>
        </p:spPr>
        <p:txBody>
          <a:bodyPr anchor="ctr"/>
          <a:lstStyle/>
          <a:p>
            <a:pPr algn="ctr"/>
            <a:r>
              <a:rPr lang="en-US" sz="2800" b="0" dirty="0">
                <a:solidFill>
                  <a:srgbClr val="000000"/>
                </a:solidFill>
                <a:latin typeface="Times New Roman"/>
              </a:rPr>
              <a:t>Functionalities of the Proposed System</a:t>
            </a:r>
            <a:endParaRPr dirty="0"/>
          </a:p>
        </p:txBody>
      </p:sp>
    </p:spTree>
    <p:extLst>
      <p:ext uri="{BB962C8B-B14F-4D97-AF65-F5344CB8AC3E}">
        <p14:creationId xmlns:p14="http://schemas.microsoft.com/office/powerpoint/2010/main" val="318182784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9FF75-4F48-E04F-6B68-C869FD96EA67}"/>
            </a:ext>
          </a:extLst>
        </p:cNvPr>
        <p:cNvGrpSpPr/>
        <p:nvPr/>
      </p:nvGrpSpPr>
      <p:grpSpPr>
        <a:xfrm>
          <a:off x="0" y="0"/>
          <a:ext cx="0" cy="0"/>
          <a:chOff x="0" y="0"/>
          <a:chExt cx="0" cy="0"/>
        </a:xfrm>
      </p:grpSpPr>
      <p:sp>
        <p:nvSpPr>
          <p:cNvPr id="4" name="Group">
            <a:extLst>
              <a:ext uri="{FF2B5EF4-FFF2-40B4-BE49-F238E27FC236}">
                <a16:creationId xmlns:a16="http://schemas.microsoft.com/office/drawing/2014/main" id="{BC622F9C-65F0-CD42-1423-17B0936DE7A8}"/>
              </a:ext>
            </a:extLst>
          </p:cNvPr>
          <p:cNvSpPr/>
          <p:nvPr/>
        </p:nvSpPr>
        <p:spPr>
          <a:xfrm>
            <a:off x="742341" y="1477936"/>
            <a:ext cx="7772400" cy="3810001"/>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lang="en-IN" sz="1600" b="1" dirty="0"/>
              <a:t>Module 4 — AI Conversational Support</a:t>
            </a:r>
          </a:p>
          <a:p>
            <a:pPr marL="285750" lvl="0" indent="-285750">
              <a:buFont typeface="Arial" panose="020B0604020202020204" pitchFamily="34" charset="0"/>
              <a:buChar char="•"/>
            </a:pPr>
            <a:r>
              <a:rPr lang="en-IN" sz="1600" dirty="0"/>
              <a:t>Fine-tuned LLM </a:t>
            </a:r>
          </a:p>
          <a:p>
            <a:pPr marL="285750" lvl="0" indent="-285750">
              <a:buFont typeface="Arial" panose="020B0604020202020204" pitchFamily="34" charset="0"/>
              <a:buChar char="•"/>
            </a:pPr>
            <a:r>
              <a:rPr lang="en-IN" sz="1600" dirty="0"/>
              <a:t>RAG-based responses </a:t>
            </a:r>
          </a:p>
          <a:p>
            <a:pPr marL="285750" lvl="0" indent="-285750">
              <a:buFont typeface="Arial" panose="020B0604020202020204" pitchFamily="34" charset="0"/>
              <a:buChar char="•"/>
            </a:pPr>
            <a:r>
              <a:rPr lang="en-IN" sz="1600" dirty="0"/>
              <a:t>Personalized support </a:t>
            </a:r>
          </a:p>
          <a:p>
            <a:pPr marL="285750" lvl="0" indent="-285750">
              <a:buFont typeface="Arial" panose="020B0604020202020204" pitchFamily="34" charset="0"/>
              <a:buChar char="•"/>
            </a:pPr>
            <a:r>
              <a:rPr lang="en-IN" sz="1600" dirty="0"/>
              <a:t>Safe response generation </a:t>
            </a:r>
          </a:p>
          <a:p>
            <a:r>
              <a:rPr lang="en-IN" sz="1600" b="1" dirty="0"/>
              <a:t>Module 5 — </a:t>
            </a:r>
            <a:r>
              <a:rPr lang="en-IN" sz="1600" b="1" dirty="0" err="1"/>
              <a:t>Zenova</a:t>
            </a:r>
            <a:r>
              <a:rPr lang="en-IN" sz="1600" b="1" dirty="0"/>
              <a:t> Dashboard</a:t>
            </a:r>
          </a:p>
          <a:p>
            <a:pPr marL="285750" lvl="0" indent="-285750">
              <a:buFont typeface="Arial" panose="020B0604020202020204" pitchFamily="34" charset="0"/>
              <a:buChar char="•"/>
            </a:pPr>
            <a:r>
              <a:rPr lang="en-IN" sz="1600" dirty="0"/>
              <a:t>Wellbeing trends </a:t>
            </a:r>
          </a:p>
          <a:p>
            <a:pPr marL="285750" lvl="0" indent="-285750">
              <a:buFont typeface="Arial" panose="020B0604020202020204" pitchFamily="34" charset="0"/>
              <a:buChar char="•"/>
            </a:pPr>
            <a:r>
              <a:rPr lang="en-IN" sz="1600" dirty="0"/>
              <a:t>Risk indicators </a:t>
            </a:r>
          </a:p>
          <a:p>
            <a:pPr marL="285750" lvl="0" indent="-285750">
              <a:buFont typeface="Arial" panose="020B0604020202020204" pitchFamily="34" charset="0"/>
              <a:buChar char="•"/>
            </a:pPr>
            <a:r>
              <a:rPr lang="en-IN" sz="1600" dirty="0"/>
              <a:t>Alerts &amp; professional support</a:t>
            </a:r>
          </a:p>
        </p:txBody>
      </p:sp>
      <p:sp>
        <p:nvSpPr>
          <p:cNvPr id="5" name="Slide Number">
            <a:extLst>
              <a:ext uri="{FF2B5EF4-FFF2-40B4-BE49-F238E27FC236}">
                <a16:creationId xmlns:a16="http://schemas.microsoft.com/office/drawing/2014/main" id="{82877965-4EA4-D9B8-D95A-1287113623ED}"/>
              </a:ext>
            </a:extLst>
          </p:cNvPr>
          <p:cNvSpPr txBox="1">
            <a:spLocks noGrp="1"/>
          </p:cNvSpPr>
          <p:nvPr>
            <p:ph type="sldNum" sz="quarter" idx="2"/>
          </p:nvPr>
        </p:nvSpPr>
        <p:spPr>
          <a:xfrm>
            <a:off x="8319496" y="381000"/>
            <a:ext cx="291104"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IN" dirty="0"/>
              <a:t>11</a:t>
            </a:r>
            <a:endParaRPr dirty="0"/>
          </a:p>
        </p:txBody>
      </p:sp>
      <p:sp>
        <p:nvSpPr>
          <p:cNvPr id="950" name="TitleBox">
            <a:extLst>
              <a:ext uri="{FF2B5EF4-FFF2-40B4-BE49-F238E27FC236}">
                <a16:creationId xmlns:a16="http://schemas.microsoft.com/office/drawing/2014/main" id="{B342D409-EC05-9EDF-3C06-A1E290095960}"/>
              </a:ext>
            </a:extLst>
          </p:cNvPr>
          <p:cNvSpPr txBox="1">
            <a:spLocks noGrp="1"/>
          </p:cNvSpPr>
          <p:nvPr/>
        </p:nvSpPr>
        <p:spPr>
          <a:xfrm>
            <a:off x="742341" y="480460"/>
            <a:ext cx="7772400" cy="685800"/>
          </a:xfrm>
          <a:prstGeom prst="rect">
            <a:avLst/>
          </a:prstGeom>
          <a:noFill/>
        </p:spPr>
        <p:txBody>
          <a:bodyPr anchor="ctr"/>
          <a:lstStyle/>
          <a:p>
            <a:pPr algn="ctr"/>
            <a:r>
              <a:rPr lang="en-US" sz="2800" b="0" dirty="0">
                <a:solidFill>
                  <a:srgbClr val="000000"/>
                </a:solidFill>
                <a:latin typeface="Times New Roman"/>
              </a:rPr>
              <a:t>Functionalities of the Proposed System</a:t>
            </a:r>
            <a:endParaRPr dirty="0"/>
          </a:p>
        </p:txBody>
      </p:sp>
    </p:spTree>
    <p:extLst>
      <p:ext uri="{BB962C8B-B14F-4D97-AF65-F5344CB8AC3E}">
        <p14:creationId xmlns:p14="http://schemas.microsoft.com/office/powerpoint/2010/main" val="20518935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609600" y="1350000"/>
            <a:ext cx="7772400" cy="4500000"/>
          </a:xfrm>
        </p:spPr>
        <p:txBody>
          <a:bodyPr>
            <a:noAutofit/>
          </a:bodyPr>
          <a:lstStyle/>
          <a:p>
            <a:endParaRPr lang="en-IN" b="1" dirty="0"/>
          </a:p>
          <a:p>
            <a:r>
              <a:rPr lang="en-IN" b="1" dirty="0"/>
              <a:t>Operating System</a:t>
            </a:r>
          </a:p>
          <a:p>
            <a:pPr lvl="0"/>
            <a:r>
              <a:rPr lang="en-IN" dirty="0"/>
              <a:t>Windows 10 / Windows 11 </a:t>
            </a:r>
          </a:p>
          <a:p>
            <a:pPr lvl="0"/>
            <a:r>
              <a:rPr lang="en-IN" dirty="0"/>
              <a:t>Ubuntu Linux </a:t>
            </a:r>
          </a:p>
          <a:p>
            <a:pPr lvl="0"/>
            <a:endParaRPr lang="en-IN" dirty="0"/>
          </a:p>
          <a:p>
            <a:r>
              <a:rPr lang="en-IN" b="1" dirty="0"/>
              <a:t>Programming Language</a:t>
            </a:r>
          </a:p>
          <a:p>
            <a:pPr lvl="0"/>
            <a:r>
              <a:rPr lang="en-IN" dirty="0"/>
              <a:t>Python 3.10+ </a:t>
            </a:r>
          </a:p>
          <a:p>
            <a:pPr lvl="0"/>
            <a:endParaRPr lang="en-IN" dirty="0"/>
          </a:p>
          <a:p>
            <a:r>
              <a:rPr lang="en-IN" b="1" dirty="0"/>
              <a:t>Development Environment</a:t>
            </a:r>
          </a:p>
          <a:p>
            <a:pPr lvl="0"/>
            <a:r>
              <a:rPr lang="en-IN" dirty="0"/>
              <a:t>VS Code </a:t>
            </a:r>
          </a:p>
          <a:p>
            <a:pPr lvl="0"/>
            <a:r>
              <a:rPr lang="en-IN" dirty="0"/>
              <a:t>Jupyter Notebook </a:t>
            </a:r>
          </a:p>
          <a:p>
            <a:pPr lvl="0"/>
            <a:endParaRPr lang="en-IN" dirty="0"/>
          </a:p>
          <a:p>
            <a:r>
              <a:rPr lang="en-IN" b="1" dirty="0"/>
              <a:t>AI / ML Frameworks</a:t>
            </a:r>
          </a:p>
          <a:p>
            <a:pPr lvl="0"/>
            <a:r>
              <a:rPr lang="en-IN" dirty="0" err="1"/>
              <a:t>PyTorch</a:t>
            </a:r>
            <a:r>
              <a:rPr lang="en-IN" dirty="0"/>
              <a:t> </a:t>
            </a:r>
          </a:p>
          <a:p>
            <a:pPr lvl="0"/>
            <a:r>
              <a:rPr lang="en-IN" dirty="0"/>
              <a:t>TensorFlow </a:t>
            </a:r>
          </a:p>
          <a:p>
            <a:pPr lvl="0"/>
            <a:r>
              <a:rPr lang="en-IN" dirty="0"/>
              <a:t>Scikit-learn </a:t>
            </a:r>
          </a:p>
          <a:p>
            <a:pPr lvl="0"/>
            <a:r>
              <a:rPr lang="en-IN" dirty="0"/>
              <a:t> </a:t>
            </a:r>
          </a:p>
          <a:p>
            <a:r>
              <a:rPr lang="en-IN" b="1" dirty="0"/>
              <a:t>Data Processing</a:t>
            </a:r>
          </a:p>
          <a:p>
            <a:pPr lvl="0"/>
            <a:r>
              <a:rPr lang="en-IN" dirty="0"/>
              <a:t>NumPy </a:t>
            </a:r>
          </a:p>
          <a:p>
            <a:pPr lvl="0"/>
            <a:r>
              <a:rPr lang="en-IN" dirty="0"/>
              <a:t>Pandas </a:t>
            </a:r>
          </a:p>
          <a:p>
            <a:pPr lvl="0"/>
            <a:r>
              <a:rPr lang="en-IN" dirty="0"/>
              <a:t>SciPy </a:t>
            </a: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IN" dirty="0"/>
              <a:t>12</a:t>
            </a: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b="0" dirty="0">
                <a:solidFill>
                  <a:srgbClr val="000000"/>
                </a:solidFill>
                <a:latin typeface="Times New Roman"/>
              </a:rPr>
              <a:t>Software / Tools Requirements</a:t>
            </a:r>
            <a:endParaRPr dirty="0"/>
          </a:p>
        </p:txBody>
      </p:sp>
    </p:spTree>
    <p:extLst>
      <p:ext uri="{BB962C8B-B14F-4D97-AF65-F5344CB8AC3E}">
        <p14:creationId xmlns:p14="http://schemas.microsoft.com/office/powerpoint/2010/main" val="241652942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A3C51-79D3-C591-BEF9-BDF3C805E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AAB3F-8B89-16A7-2018-B7B03A8CAFE2}"/>
              </a:ext>
            </a:extLst>
          </p:cNvPr>
          <p:cNvSpPr>
            <a:spLocks noGrp="1"/>
          </p:cNvSpPr>
          <p:nvPr/>
        </p:nvSpPr>
        <p:spPr>
          <a:xfrm>
            <a:off x="692648" y="1295400"/>
            <a:ext cx="7772400" cy="4500000"/>
          </a:xfrm>
        </p:spPr>
        <p:txBody>
          <a:bodyPr>
            <a:noAutofit/>
          </a:bodyPr>
          <a:lstStyle/>
          <a:p>
            <a:r>
              <a:rPr lang="en-IN" sz="1600" b="1" dirty="0"/>
              <a:t>NLP / AI Tools</a:t>
            </a:r>
          </a:p>
          <a:p>
            <a:pPr lvl="0"/>
            <a:r>
              <a:rPr lang="en-IN" dirty="0"/>
              <a:t>NLTK </a:t>
            </a:r>
          </a:p>
          <a:p>
            <a:pPr lvl="0"/>
            <a:r>
              <a:rPr lang="en-IN" dirty="0" err="1"/>
              <a:t>spaCy</a:t>
            </a:r>
            <a:r>
              <a:rPr lang="en-IN" dirty="0"/>
              <a:t> </a:t>
            </a:r>
          </a:p>
          <a:p>
            <a:pPr lvl="0"/>
            <a:r>
              <a:rPr lang="en-IN" dirty="0"/>
              <a:t>PEFT / </a:t>
            </a:r>
            <a:r>
              <a:rPr lang="en-IN" dirty="0" err="1"/>
              <a:t>QLoRA</a:t>
            </a:r>
            <a:r>
              <a:rPr lang="en-IN" dirty="0"/>
              <a:t> </a:t>
            </a:r>
          </a:p>
          <a:p>
            <a:pPr lvl="0"/>
            <a:r>
              <a:rPr lang="en-IN" dirty="0"/>
              <a:t>RAG Framework</a:t>
            </a:r>
          </a:p>
          <a:p>
            <a:pPr lvl="0"/>
            <a:r>
              <a:rPr lang="en-IN" dirty="0"/>
              <a:t> </a:t>
            </a:r>
          </a:p>
          <a:p>
            <a:r>
              <a:rPr lang="en-IN" sz="1600" b="1" dirty="0"/>
              <a:t>Visualization</a:t>
            </a:r>
          </a:p>
          <a:p>
            <a:pPr lvl="0"/>
            <a:r>
              <a:rPr lang="en-IN" dirty="0" err="1"/>
              <a:t>Streamlit</a:t>
            </a:r>
            <a:r>
              <a:rPr lang="en-IN" dirty="0"/>
              <a:t> </a:t>
            </a:r>
          </a:p>
          <a:p>
            <a:pPr lvl="0"/>
            <a:r>
              <a:rPr lang="en-IN" dirty="0" err="1"/>
              <a:t>Plotly</a:t>
            </a:r>
            <a:endParaRPr lang="en-IN" dirty="0"/>
          </a:p>
          <a:p>
            <a:pPr lvl="0"/>
            <a:r>
              <a:rPr lang="en-IN" dirty="0"/>
              <a:t> </a:t>
            </a:r>
          </a:p>
          <a:p>
            <a:r>
              <a:rPr lang="en-IN" sz="1600" b="1" dirty="0"/>
              <a:t>Version Control</a:t>
            </a:r>
          </a:p>
          <a:p>
            <a:pPr lvl="0"/>
            <a:r>
              <a:rPr lang="en-IN" dirty="0"/>
              <a:t>Git &amp; GitHub</a:t>
            </a:r>
          </a:p>
          <a:p>
            <a:pPr>
              <a:defRPr sz="1700" b="1">
                <a:latin typeface="Times New Roman"/>
              </a:defRPr>
            </a:pPr>
            <a:endParaRPr lang="en-IN" dirty="0"/>
          </a:p>
          <a:p>
            <a:pPr algn="l">
              <a:defRPr sz="1700" b="1">
                <a:latin typeface="Times New Roman"/>
              </a:defRPr>
            </a:pPr>
            <a:endParaRPr dirty="0"/>
          </a:p>
        </p:txBody>
      </p:sp>
      <p:sp>
        <p:nvSpPr>
          <p:cNvPr id="5" name="Slide Number">
            <a:extLst>
              <a:ext uri="{FF2B5EF4-FFF2-40B4-BE49-F238E27FC236}">
                <a16:creationId xmlns:a16="http://schemas.microsoft.com/office/drawing/2014/main" id="{EDB125F9-E317-57EE-2C65-7535899A4B86}"/>
              </a:ext>
            </a:extLst>
          </p:cNvPr>
          <p:cNvSpPr txBox="1">
            <a:spLocks noGrp="1"/>
          </p:cNvSpPr>
          <p:nvPr>
            <p:ph type="sldNum" sz="quarter" idx="2"/>
          </p:nvPr>
        </p:nvSpPr>
        <p:spPr>
          <a:xfrm>
            <a:off x="8319496" y="381000"/>
            <a:ext cx="291104" cy="30777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IN" dirty="0"/>
              <a:t>13</a:t>
            </a:r>
          </a:p>
        </p:txBody>
      </p:sp>
      <p:sp>
        <p:nvSpPr>
          <p:cNvPr id="950" name="TitleBox">
            <a:extLst>
              <a:ext uri="{FF2B5EF4-FFF2-40B4-BE49-F238E27FC236}">
                <a16:creationId xmlns:a16="http://schemas.microsoft.com/office/drawing/2014/main" id="{B767F480-8460-2F67-1D65-2025A976B342}"/>
              </a:ext>
            </a:extLst>
          </p:cNvPr>
          <p:cNvSpPr txBox="1">
            <a:spLocks noGrp="1"/>
          </p:cNvSpPr>
          <p:nvPr/>
        </p:nvSpPr>
        <p:spPr>
          <a:xfrm>
            <a:off x="685800" y="457200"/>
            <a:ext cx="7772400" cy="685800"/>
          </a:xfrm>
          <a:prstGeom prst="rect">
            <a:avLst/>
          </a:prstGeom>
          <a:noFill/>
        </p:spPr>
        <p:txBody>
          <a:bodyPr anchor="ctr"/>
          <a:lstStyle/>
          <a:p>
            <a:pPr algn="ctr"/>
            <a:r>
              <a:rPr lang="en-US" sz="2800" b="0" dirty="0">
                <a:solidFill>
                  <a:srgbClr val="000000"/>
                </a:solidFill>
                <a:latin typeface="Times New Roman"/>
              </a:rPr>
              <a:t>Software / Tools Requirements</a:t>
            </a:r>
            <a:endParaRPr dirty="0"/>
          </a:p>
        </p:txBody>
      </p:sp>
    </p:spTree>
    <p:extLst>
      <p:ext uri="{BB962C8B-B14F-4D97-AF65-F5344CB8AC3E}">
        <p14:creationId xmlns:p14="http://schemas.microsoft.com/office/powerpoint/2010/main" val="39668497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32291" y="381000"/>
            <a:ext cx="7315200" cy="887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chor="ctr"/>
          <a:lstStyle/>
          <a:p>
            <a:pPr algn="ctr"/>
            <a:r>
              <a:rPr lang="en-US" sz="2800" dirty="0">
                <a:solidFill>
                  <a:srgbClr val="404040"/>
                </a:solidFill>
                <a:latin typeface="Times New Roman"/>
                <a:ea typeface="Times New Roman"/>
                <a:cs typeface="Times New Roman"/>
              </a:rPr>
              <a:t>Datasets</a:t>
            </a:r>
          </a:p>
        </p:txBody>
      </p:sp>
      <p:sp>
        <p:nvSpPr>
          <p:cNvPr id="4" name="TextBox 3"/>
          <p:cNvSpPr txBox="1"/>
          <p:nvPr/>
        </p:nvSpPr>
        <p:spPr>
          <a:xfrm>
            <a:off x="625151" y="1380932"/>
            <a:ext cx="8236909" cy="50960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a:normAutofit/>
          </a:bodyPr>
          <a:lstStyle/>
          <a:p>
            <a:r>
              <a:rPr lang="en-IN" sz="1600" b="1" dirty="0" err="1"/>
              <a:t>ESConv</a:t>
            </a:r>
            <a:r>
              <a:rPr lang="en-IN" sz="1600" b="1" dirty="0"/>
              <a:t> (Emotional Support Conversation Dataset)</a:t>
            </a:r>
            <a:endParaRPr lang="en-IN" sz="1600" dirty="0"/>
          </a:p>
          <a:p>
            <a:pPr lvl="0"/>
            <a:r>
              <a:rPr lang="en-IN" sz="1600" b="1" dirty="0"/>
              <a:t>Source:</a:t>
            </a:r>
            <a:r>
              <a:rPr lang="en-IN" sz="1600" dirty="0"/>
              <a:t> Liu et al., 2021 (ACL)</a:t>
            </a:r>
          </a:p>
          <a:p>
            <a:pPr lvl="0"/>
            <a:r>
              <a:rPr lang="en-IN" sz="1600" b="1" dirty="0"/>
              <a:t>Size:</a:t>
            </a:r>
            <a:r>
              <a:rPr lang="en-IN" sz="1600" dirty="0"/>
              <a:t> 1,053 dialogues | 31,410 utterances</a:t>
            </a:r>
          </a:p>
          <a:p>
            <a:pPr lvl="0"/>
            <a:r>
              <a:rPr lang="en-IN" sz="1600" b="1" dirty="0"/>
              <a:t>Format:</a:t>
            </a:r>
            <a:r>
              <a:rPr lang="en-IN" sz="1600" dirty="0"/>
              <a:t> Text-only, crowdsourced help-seeker ↔ supporter conversations</a:t>
            </a:r>
          </a:p>
          <a:p>
            <a:pPr lvl="0"/>
            <a:r>
              <a:rPr lang="en-IN" sz="1600" b="1" dirty="0"/>
              <a:t>Structure:</a:t>
            </a:r>
            <a:r>
              <a:rPr lang="en-IN" sz="1600" dirty="0"/>
              <a:t> Follows Exploration → Comforting → Action support process</a:t>
            </a:r>
          </a:p>
          <a:p>
            <a:pPr lvl="0"/>
            <a:r>
              <a:rPr lang="en-IN" sz="1600" b="1" dirty="0"/>
              <a:t>Annotations:</a:t>
            </a:r>
            <a:r>
              <a:rPr lang="en-IN" sz="1600" dirty="0"/>
              <a:t> Each supporter turn </a:t>
            </a:r>
            <a:r>
              <a:rPr lang="en-IN" sz="1600" dirty="0" err="1"/>
              <a:t>labeled</a:t>
            </a:r>
            <a:r>
              <a:rPr lang="en-IN" sz="1600" dirty="0"/>
              <a:t> with 1 of </a:t>
            </a:r>
            <a:r>
              <a:rPr lang="en-IN" sz="1600" b="1" dirty="0"/>
              <a:t>8 support strategies</a:t>
            </a:r>
            <a:r>
              <a:rPr lang="en-IN" sz="1600" dirty="0"/>
              <a:t> </a:t>
            </a:r>
          </a:p>
          <a:p>
            <a:pPr lvl="0"/>
            <a:r>
              <a:rPr lang="en-IN" sz="1600" dirty="0"/>
              <a:t>Question, Restatement, Reflection of Feelings, Self-disclosure, Affirmation/Reassurance, Providing Suggestions, Information, Others</a:t>
            </a:r>
          </a:p>
          <a:p>
            <a:pPr lvl="0"/>
            <a:r>
              <a:rPr lang="en-IN" sz="1600" b="1" dirty="0"/>
              <a:t>Use case:</a:t>
            </a:r>
            <a:r>
              <a:rPr lang="en-IN" sz="1600" dirty="0"/>
              <a:t> Trains models on </a:t>
            </a:r>
            <a:r>
              <a:rPr lang="en-IN" sz="1600" i="1" dirty="0"/>
              <a:t>strategy planning</a:t>
            </a:r>
            <a:r>
              <a:rPr lang="en-IN" sz="1600" dirty="0"/>
              <a:t> — deciding </a:t>
            </a:r>
            <a:r>
              <a:rPr lang="en-IN" sz="1600" b="1" dirty="0"/>
              <a:t>what kind of support to give and when</a:t>
            </a:r>
            <a:endParaRPr lang="en-IN" sz="1600" dirty="0"/>
          </a:p>
          <a:p>
            <a:pPr lvl="0"/>
            <a:r>
              <a:rPr lang="en-IN" sz="1600" b="1" dirty="0"/>
              <a:t>Limitation:</a:t>
            </a:r>
            <a:r>
              <a:rPr lang="en-IN" sz="1600" dirty="0"/>
              <a:t> English, text-only, no clinical/diagnostic labels, no voice</a:t>
            </a:r>
          </a:p>
          <a:p>
            <a:endParaRPr lang="en-IN" sz="1600" dirty="0"/>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14</a:t>
            </a:r>
            <a:endParaRPr dirty="0"/>
          </a:p>
        </p:txBody>
      </p:sp>
    </p:spTree>
    <p:extLst>
      <p:ext uri="{BB962C8B-B14F-4D97-AF65-F5344CB8AC3E}">
        <p14:creationId xmlns:p14="http://schemas.microsoft.com/office/powerpoint/2010/main" val="84806806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IN" dirty="0"/>
              <a:t>15</a:t>
            </a:r>
          </a:p>
        </p:txBody>
      </p:sp>
      <p:sp>
        <p:nvSpPr>
          <p:cNvPr id="141" name="Content"/>
          <p:cNvSpPr txBox="1">
            <a:spLocks noGrp="1"/>
          </p:cNvSpPr>
          <p:nvPr>
            <p:ph type="title"/>
          </p:nvPr>
        </p:nvSpPr>
        <p:spPr>
          <a:xfrm>
            <a:off x="687754" y="1504000"/>
            <a:ext cx="7772400" cy="4400000"/>
          </a:xfrm>
          <a:prstGeom prst="rect">
            <a:avLst/>
          </a:prstGeom>
        </p:spPr>
        <p:txBody>
          <a:bodyPr>
            <a:normAutofit fontScale="90000"/>
          </a:bodyPr>
          <a:lstStyle/>
          <a:p>
            <a:pPr lvl="0"/>
            <a:r>
              <a:rPr lang="en-IN" sz="1600" dirty="0"/>
              <a:t>Successfully proposed </a:t>
            </a:r>
            <a:r>
              <a:rPr lang="en-IN" sz="1600" b="1" dirty="0" err="1"/>
              <a:t>Zenova</a:t>
            </a:r>
            <a:r>
              <a:rPr lang="en-IN" sz="1600" dirty="0"/>
              <a:t>, an AI-assisted mental-health support and monitoring platform. </a:t>
            </a:r>
            <a:br>
              <a:rPr lang="en-IN" sz="1600" dirty="0"/>
            </a:br>
            <a:br>
              <a:rPr lang="en-IN" sz="1600" dirty="0"/>
            </a:br>
            <a:r>
              <a:rPr lang="en-IN" sz="1600" dirty="0"/>
              <a:t>Will integrate </a:t>
            </a:r>
            <a:r>
              <a:rPr lang="en-IN" sz="1600" b="1" dirty="0"/>
              <a:t>multimodal data, NLP/LLMs, behavioural analysis, and personalized monitoring</a:t>
            </a:r>
            <a:r>
              <a:rPr lang="en-IN" sz="1600" dirty="0"/>
              <a:t>. </a:t>
            </a:r>
            <a:br>
              <a:rPr lang="en-IN" sz="1600" dirty="0"/>
            </a:br>
            <a:br>
              <a:rPr lang="en-IN" sz="1600" dirty="0"/>
            </a:br>
            <a:r>
              <a:rPr lang="en-IN" sz="1600" dirty="0"/>
              <a:t>Will use </a:t>
            </a:r>
            <a:r>
              <a:rPr lang="en-IN" sz="1600" b="1" dirty="0"/>
              <a:t>personal baselines</a:t>
            </a:r>
            <a:r>
              <a:rPr lang="en-IN" sz="1600" dirty="0"/>
              <a:t> to identify significant changes in user behaviour and wellbeing. </a:t>
            </a:r>
            <a:br>
              <a:rPr lang="en-IN" sz="1600" dirty="0"/>
            </a:br>
            <a:br>
              <a:rPr lang="en-IN" sz="1600" dirty="0"/>
            </a:br>
            <a:r>
              <a:rPr lang="en-IN" sz="1600" dirty="0"/>
              <a:t>Will Implement a </a:t>
            </a:r>
            <a:r>
              <a:rPr lang="en-IN" sz="1600" b="1" dirty="0"/>
              <a:t>safety-gated strategy layer</a:t>
            </a:r>
            <a:r>
              <a:rPr lang="en-IN" sz="1600" dirty="0"/>
              <a:t> to control AI-generated responses. </a:t>
            </a:r>
            <a:br>
              <a:rPr lang="en-IN" sz="1600" dirty="0"/>
            </a:br>
            <a:r>
              <a:rPr lang="en-IN" sz="1600" dirty="0"/>
              <a:t>Provides </a:t>
            </a:r>
            <a:r>
              <a:rPr lang="en-IN" sz="1600" b="1" dirty="0"/>
              <a:t>personalized conversational support and early-warning insights</a:t>
            </a:r>
            <a:r>
              <a:rPr lang="en-IN" sz="1600" dirty="0"/>
              <a:t>. </a:t>
            </a:r>
            <a:br>
              <a:rPr lang="en-IN" sz="1600" dirty="0"/>
            </a:br>
            <a:br>
              <a:rPr lang="en-IN" sz="1600" dirty="0"/>
            </a:br>
            <a:r>
              <a:rPr lang="en-IN" sz="1600" dirty="0"/>
              <a:t>Will be designed as a </a:t>
            </a:r>
            <a:r>
              <a:rPr lang="en-IN" sz="1600" b="1" dirty="0"/>
              <a:t>clinician-extending system, not a replacement for mental-health professionals</a:t>
            </a:r>
            <a:r>
              <a:rPr lang="en-IN" sz="1600" dirty="0"/>
              <a:t>. </a:t>
            </a:r>
            <a:br>
              <a:rPr lang="en-IN" sz="1600" dirty="0"/>
            </a:br>
            <a:br>
              <a:rPr lang="en-IN" sz="1600" dirty="0"/>
            </a:br>
            <a:r>
              <a:rPr lang="en-IN" sz="1600" dirty="0"/>
              <a:t>Provides a foundation for </a:t>
            </a:r>
            <a:r>
              <a:rPr lang="en-IN" sz="1600" b="1" dirty="0"/>
              <a:t>safe, scalable, and personalized mental-health technology</a:t>
            </a:r>
            <a:r>
              <a:rPr lang="en-IN" sz="1600" dirty="0"/>
              <a:t>. </a:t>
            </a:r>
            <a:br>
              <a:rPr lang="en-IN" sz="1600" dirty="0"/>
            </a:br>
            <a:endParaRPr lang="en-US" sz="1600"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dirty="0">
                <a:solidFill>
                  <a:srgbClr val="404040"/>
                </a:solidFill>
                <a:latin typeface="Times New Roman"/>
                <a:ea typeface="Times New Roman"/>
                <a:cs typeface="Times New Roman"/>
              </a:rPr>
              <a:t>Conclusion</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IN" dirty="0"/>
              <a:t>16</a:t>
            </a:r>
            <a:endParaRPr dirty="0"/>
          </a:p>
        </p:txBody>
      </p:sp>
      <p:sp>
        <p:nvSpPr>
          <p:cNvPr id="141" name="Content"/>
          <p:cNvSpPr txBox="1">
            <a:spLocks noGrp="1"/>
          </p:cNvSpPr>
          <p:nvPr>
            <p:ph type="title"/>
          </p:nvPr>
        </p:nvSpPr>
        <p:spPr>
          <a:xfrm>
            <a:off x="685800" y="2045623"/>
            <a:ext cx="7633447" cy="3844189"/>
          </a:xfrm>
          <a:prstGeom prst="rect">
            <a:avLst/>
          </a:prstGeom>
        </p:spPr>
        <p:txBody>
          <a:bodyPr>
            <a:normAutofit fontScale="90000"/>
          </a:bodyPr>
          <a:lstStyle/>
          <a:p>
            <a:pPr lvl="0" algn="l"/>
            <a:r>
              <a:rPr lang="en-IN" sz="1600" b="1" dirty="0"/>
              <a:t>Advanced AI Personalization</a:t>
            </a:r>
            <a:br>
              <a:rPr lang="en-IN" sz="1600" dirty="0"/>
            </a:br>
            <a:r>
              <a:rPr lang="en-IN" sz="1600" dirty="0"/>
              <a:t>Adapt conversations and recommendations based on the user's past interactions and individual patterns. </a:t>
            </a:r>
            <a:br>
              <a:rPr lang="en-IN" sz="1600" dirty="0"/>
            </a:br>
            <a:r>
              <a:rPr lang="en-IN" sz="1600" b="1" dirty="0"/>
              <a:t>Improved Mood &amp; Behaviour Tracking</a:t>
            </a:r>
            <a:br>
              <a:rPr lang="en-IN" sz="1600" dirty="0"/>
            </a:br>
            <a:r>
              <a:rPr lang="en-IN" sz="1600" dirty="0" err="1"/>
              <a:t>Analyze</a:t>
            </a:r>
            <a:r>
              <a:rPr lang="en-IN" sz="1600" dirty="0"/>
              <a:t> long-term changes in mood, sleep, activity, and daily routines using phone-based data. </a:t>
            </a:r>
            <a:br>
              <a:rPr lang="en-IN" sz="1600" dirty="0"/>
            </a:br>
            <a:r>
              <a:rPr lang="en-IN" sz="1600" b="1" dirty="0"/>
              <a:t>Voice-Based Analysis</a:t>
            </a:r>
            <a:br>
              <a:rPr lang="en-IN" sz="1600" dirty="0"/>
            </a:br>
            <a:r>
              <a:rPr lang="en-IN" sz="1600" dirty="0"/>
              <a:t>Use voice inputs to identify additional emotional and behavioural patterns. </a:t>
            </a:r>
            <a:br>
              <a:rPr lang="en-IN" sz="1600" dirty="0"/>
            </a:br>
            <a:r>
              <a:rPr lang="en-IN" sz="1600" b="1" dirty="0"/>
              <a:t>Multilingual &amp; Code-Mixed Support</a:t>
            </a:r>
            <a:br>
              <a:rPr lang="en-IN" sz="1600" dirty="0"/>
            </a:br>
            <a:r>
              <a:rPr lang="en-IN" sz="1600" dirty="0" err="1"/>
              <a:t>Support</a:t>
            </a:r>
            <a:r>
              <a:rPr lang="en-IN" sz="1600" dirty="0"/>
              <a:t> Indian languages such as </a:t>
            </a:r>
            <a:r>
              <a:rPr lang="en-IN" sz="1600" b="1" dirty="0"/>
              <a:t>Telugu, Hindi, and Kannada</a:t>
            </a:r>
            <a:r>
              <a:rPr lang="en-IN" sz="1600" dirty="0"/>
              <a:t>, including Hinglish/</a:t>
            </a:r>
            <a:r>
              <a:rPr lang="en-IN" sz="1600" dirty="0" err="1"/>
              <a:t>Kanglish</a:t>
            </a:r>
            <a:r>
              <a:rPr lang="en-IN" sz="1600" dirty="0"/>
              <a:t>-style conversations. </a:t>
            </a:r>
            <a:br>
              <a:rPr lang="en-IN" sz="1600" dirty="0"/>
            </a:br>
            <a:r>
              <a:rPr lang="en-IN" sz="1600" b="1" dirty="0"/>
              <a:t>Enhanced Crisis Detection</a:t>
            </a:r>
            <a:br>
              <a:rPr lang="en-IN" sz="1600" dirty="0"/>
            </a:br>
            <a:r>
              <a:rPr lang="en-IN" sz="1600" dirty="0"/>
              <a:t>Improve detection of crisis-related messages and provide appropriate support and human escalation. </a:t>
            </a:r>
            <a:br>
              <a:rPr lang="en-IN" sz="1600" dirty="0"/>
            </a:br>
            <a:r>
              <a:rPr lang="en-IN" sz="1600" b="1" dirty="0"/>
              <a:t>Clinician Dashboard</a:t>
            </a:r>
            <a:br>
              <a:rPr lang="en-IN" sz="1600" dirty="0"/>
            </a:br>
            <a:r>
              <a:rPr lang="en-IN" sz="1600" dirty="0"/>
              <a:t>Allow users to securely share summarized mood and behavioural trends with mental-health professionals. </a:t>
            </a:r>
            <a:br>
              <a:rPr lang="en-IN" sz="1600" dirty="0"/>
            </a:br>
            <a:r>
              <a:rPr lang="en-IN" sz="1600" b="1" dirty="0"/>
              <a:t>Explainable AI</a:t>
            </a:r>
            <a:br>
              <a:rPr lang="en-IN" sz="1600" dirty="0"/>
            </a:br>
            <a:r>
              <a:rPr lang="en-IN" sz="1600" dirty="0"/>
              <a:t>Provide understandable reasons behind detected patterns and recommendations. </a:t>
            </a:r>
            <a:br>
              <a:rPr lang="en-IN" sz="1600" dirty="0"/>
            </a:br>
            <a:r>
              <a:rPr lang="en-IN" sz="1600" b="1" dirty="0"/>
              <a:t>Personalized Intervention Planning</a:t>
            </a:r>
            <a:br>
              <a:rPr lang="en-IN" sz="1600" dirty="0"/>
            </a:br>
            <a:r>
              <a:rPr lang="en-IN" sz="1600" dirty="0"/>
              <a:t>Adapt the type and timing of supportive activities based on individual user responses. </a:t>
            </a:r>
            <a:br>
              <a:rPr lang="en-IN" sz="1600" dirty="0"/>
            </a:br>
            <a:r>
              <a:rPr lang="en-IN" sz="1600" b="1" dirty="0"/>
              <a:t>Continuous Safety Evaluation</a:t>
            </a:r>
            <a:br>
              <a:rPr lang="en-IN" sz="1600" dirty="0"/>
            </a:br>
            <a:r>
              <a:rPr lang="en-IN" sz="1600" dirty="0"/>
              <a:t>Expand </a:t>
            </a:r>
            <a:r>
              <a:rPr lang="en-IN" sz="1600" b="1" dirty="0" err="1"/>
              <a:t>ZenovaSafe</a:t>
            </a:r>
            <a:r>
              <a:rPr lang="en-IN" sz="1600" dirty="0"/>
              <a:t> with more real-world, multi-turn, and culturally diverse safety scenarios. </a:t>
            </a:r>
            <a:br>
              <a:rPr lang="en-IN" sz="1600" dirty="0"/>
            </a:br>
            <a:r>
              <a:rPr lang="en-IN" sz="1600" b="1" dirty="0"/>
              <a:t>Cloud-Based Deployment &amp; Scalability</a:t>
            </a:r>
            <a:br>
              <a:rPr lang="en-IN" sz="1600" dirty="0"/>
            </a:br>
            <a:r>
              <a:rPr lang="en-IN" sz="1600" dirty="0"/>
              <a:t>Deploy the application securely on cloud infrastructure to support more users while maintaining privacy. </a:t>
            </a:r>
            <a:br>
              <a:rPr lang="en-IN" sz="1600" dirty="0"/>
            </a:br>
            <a:endParaRPr lang="en-US" sz="1600"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a:p>
        </p:txBody>
      </p:sp>
      <p:sp>
        <p:nvSpPr>
          <p:cNvPr id="950" name="TitleBox"/>
          <p:cNvSpPr txBox="1">
            <a:spLocks noGrp="1"/>
          </p:cNvSpPr>
          <p:nvPr/>
        </p:nvSpPr>
        <p:spPr>
          <a:xfrm>
            <a:off x="685800" y="457200"/>
            <a:ext cx="7772400" cy="685800"/>
          </a:xfrm>
          <a:prstGeom prst="rect">
            <a:avLst/>
          </a:prstGeom>
          <a:noFill/>
        </p:spPr>
        <p:txBody>
          <a:bodyPr anchor="ctr"/>
          <a:lstStyle/>
          <a:p>
            <a:pPr algn="ctr"/>
            <a:r>
              <a:rPr lang="en-US" sz="2800" dirty="0">
                <a:solidFill>
                  <a:srgbClr val="404040"/>
                </a:solidFill>
                <a:latin typeface="Times New Roman"/>
                <a:ea typeface="Times New Roman"/>
                <a:cs typeface="Times New Roman"/>
              </a:rPr>
              <a:t>Future Enhancements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IN" dirty="0"/>
              <a:t>17</a:t>
            </a:r>
            <a:endParaRPr dirty="0"/>
          </a:p>
        </p:txBody>
      </p:sp>
      <p:sp>
        <p:nvSpPr>
          <p:cNvPr id="210" name="References"/>
          <p:cNvSpPr txBox="1">
            <a:spLocks noGrp="1"/>
          </p:cNvSpPr>
          <p:nvPr>
            <p:ph type="title"/>
          </p:nvPr>
        </p:nvSpPr>
        <p:spPr>
          <a:xfrm>
            <a:off x="977537" y="1036320"/>
            <a:ext cx="6858000" cy="808038"/>
          </a:xfrm>
          <a:prstGeom prst="rect">
            <a:avLst/>
          </a:prstGeom>
        </p:spPr>
        <p:txBody>
          <a:bodyPr>
            <a:normAutofit/>
          </a:bodyPr>
          <a:lstStyle/>
          <a:p>
            <a:r>
              <a:rPr lang="en-US" sz="3200" dirty="0">
                <a:latin typeface="Times New Roman"/>
                <a:cs typeface="Times New Roman"/>
              </a:rPr>
              <a:t>References</a:t>
            </a:r>
            <a:endParaRPr sz="3200" dirty="0">
              <a:latin typeface="Times New Roman"/>
              <a:cs typeface="Times New Roman"/>
            </a:endParaRPr>
          </a:p>
        </p:txBody>
      </p:sp>
      <p:sp>
        <p:nvSpPr>
          <p:cNvPr id="3" name="TextBox 2">
            <a:extLst>
              <a:ext uri="{FF2B5EF4-FFF2-40B4-BE49-F238E27FC236}">
                <a16:creationId xmlns:a16="http://schemas.microsoft.com/office/drawing/2014/main" id="{20969E78-3C83-13C3-8700-6481BB45ACF0}"/>
              </a:ext>
            </a:extLst>
          </p:cNvPr>
          <p:cNvSpPr txBox="1"/>
          <p:nvPr/>
        </p:nvSpPr>
        <p:spPr>
          <a:xfrm>
            <a:off x="572991" y="1717358"/>
            <a:ext cx="8184776" cy="4800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a:normAutofit/>
          </a:bodyPr>
          <a:lstStyle/>
          <a:p>
            <a:r>
              <a:rPr lang="en-IN" sz="1500" b="1" dirty="0"/>
              <a:t>[1]</a:t>
            </a:r>
            <a:r>
              <a:rPr lang="en-IN" sz="1500" dirty="0"/>
              <a:t> Yang et al., </a:t>
            </a:r>
            <a:r>
              <a:rPr lang="en-IN" sz="1500" dirty="0" err="1"/>
              <a:t>MentaLLaMA</a:t>
            </a:r>
            <a:r>
              <a:rPr lang="en-IN" sz="1500" dirty="0"/>
              <a:t>: Interpretable Mental Health Analysis on Social Media with Large Language Models, WWW, 2024. </a:t>
            </a:r>
          </a:p>
          <a:p>
            <a:r>
              <a:rPr lang="en-IN" sz="1500" b="1" dirty="0"/>
              <a:t>[2]</a:t>
            </a:r>
            <a:r>
              <a:rPr lang="en-IN" sz="1500" dirty="0"/>
              <a:t> Yang et al., Towards Interpretable Mental Health Analysis with Large Language Models, EMNLP, 2023. </a:t>
            </a:r>
          </a:p>
          <a:p>
            <a:r>
              <a:rPr lang="en-IN" sz="1500" b="1" dirty="0"/>
              <a:t>[3]</a:t>
            </a:r>
            <a:r>
              <a:rPr lang="en-IN" sz="1500" dirty="0"/>
              <a:t> Zhang et al., Symptom Identification for Interpretable Detection of Multiple Mental Disorders on Social Media, EMNLP, 2022. </a:t>
            </a:r>
          </a:p>
          <a:p>
            <a:r>
              <a:rPr lang="en-IN" sz="1500" b="1" dirty="0"/>
              <a:t>[4]</a:t>
            </a:r>
            <a:r>
              <a:rPr lang="en-IN" sz="1500" dirty="0"/>
              <a:t> Heinz et al., Randomized Trial of a Generative AI Chatbot for Mental Health Treatment, NEJM AI, 2025. </a:t>
            </a:r>
          </a:p>
          <a:p>
            <a:r>
              <a:rPr lang="en-IN" sz="1500" b="1" dirty="0"/>
              <a:t>[5]</a:t>
            </a:r>
            <a:r>
              <a:rPr lang="en-IN" sz="1500" dirty="0"/>
              <a:t> Moore et al., Expressing Stigma and Inappropriate Responses Prevents LLMs from Safely Replacing Mental Health Providers, </a:t>
            </a:r>
            <a:r>
              <a:rPr lang="en-IN" sz="1500" dirty="0" err="1"/>
              <a:t>FAccT</a:t>
            </a:r>
            <a:r>
              <a:rPr lang="en-IN" sz="1500" dirty="0"/>
              <a:t>, 2025. </a:t>
            </a:r>
          </a:p>
          <a:p>
            <a:r>
              <a:rPr lang="en-IN" sz="1500" b="1" dirty="0"/>
              <a:t>[6]</a:t>
            </a:r>
            <a:r>
              <a:rPr lang="en-IN" sz="1500" dirty="0"/>
              <a:t> </a:t>
            </a:r>
            <a:r>
              <a:rPr lang="en-IN" sz="1500" dirty="0" err="1"/>
              <a:t>Pichowicz</a:t>
            </a:r>
            <a:r>
              <a:rPr lang="en-IN" sz="1500" dirty="0"/>
              <a:t> et al., Performance of Mental Health Chatbot Agents in Detecting and Managing Suicidal Ideation, Scientific Reports, 2025. </a:t>
            </a:r>
          </a:p>
          <a:p>
            <a:r>
              <a:rPr lang="en-IN" sz="1500" b="1" dirty="0"/>
              <a:t>[7]</a:t>
            </a:r>
            <a:r>
              <a:rPr lang="en-IN" sz="1500" dirty="0"/>
              <a:t> Adler et al., Machine Learning for Passive Mental Health Symptom Prediction, PLOS ONE, 2022. </a:t>
            </a:r>
          </a:p>
          <a:p>
            <a:r>
              <a:rPr lang="en-IN" sz="1500" b="1" dirty="0"/>
              <a:t>[8]</a:t>
            </a:r>
            <a:r>
              <a:rPr lang="en-IN" sz="1500" dirty="0"/>
              <a:t> Zhang et al., Generative AI Mental Health Chatbots as Therapeutic Tools: Systematic Review and Meta-Analysis, JMIR, 2025. </a:t>
            </a:r>
          </a:p>
          <a:p>
            <a:r>
              <a:rPr lang="en-IN" sz="1500" b="1" dirty="0"/>
              <a:t>[9]</a:t>
            </a:r>
            <a:r>
              <a:rPr lang="en-IN" sz="1500" dirty="0"/>
              <a:t> The Applications of LLMs in Mental Health: Scoping Review, JMIR, 2025. </a:t>
            </a:r>
          </a:p>
          <a:p>
            <a:r>
              <a:rPr lang="en-IN" sz="1500" b="1" dirty="0"/>
              <a:t>[10]</a:t>
            </a:r>
            <a:r>
              <a:rPr lang="en-IN" sz="1500" dirty="0"/>
              <a:t> Most DAIC-WOZ Depression Classifiers Are Invalid, ICMI Companion, 2025. </a:t>
            </a:r>
          </a:p>
          <a:p>
            <a:pPr>
              <a:defRPr sz="1100">
                <a:latin typeface="Times New Roman"/>
              </a:defRPr>
            </a:pPr>
            <a:endParaRPr sz="1500"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809149"/>
            <a:ext cx="8229600" cy="1508126"/>
          </a:xfrm>
        </p:spPr>
        <p:txBody>
          <a:bodyPr/>
          <a:lstStyle/>
          <a:p>
            <a:r>
              <a:rPr lang="en-US" sz="4400" dirty="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721A96B-8B05-BD49-B6F0-8D4DA60AFD49}"/>
              </a:ext>
            </a:extLst>
          </p:cNvPr>
          <p:cNvSpPr>
            <a:spLocks noGrp="1"/>
          </p:cNvSpPr>
          <p:nvPr>
            <p:ph type="sldNum" sz="quarter" idx="2"/>
          </p:nvPr>
        </p:nvSpPr>
        <p:spPr>
          <a:xfrm>
            <a:off x="8319497" y="381000"/>
            <a:ext cx="291104" cy="307777"/>
          </a:xfrm>
        </p:spPr>
        <p:txBody>
          <a:bodyPr/>
          <a:lstStyle/>
          <a:p>
            <a:r>
              <a:rPr lang="en-IN" dirty="0"/>
              <a:t>18</a:t>
            </a:r>
          </a:p>
        </p:txBody>
      </p:sp>
    </p:spTree>
    <p:extLst>
      <p:ext uri="{BB962C8B-B14F-4D97-AF65-F5344CB8AC3E}">
        <p14:creationId xmlns:p14="http://schemas.microsoft.com/office/powerpoint/2010/main" val="2290172774"/>
      </p:ext>
    </p:extLst>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8554</TotalTime>
  <Words>1310</Words>
  <Application>Microsoft Office PowerPoint</Application>
  <PresentationFormat>On-screen Show (4:3)</PresentationFormat>
  <Paragraphs>179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Arimo</vt:lpstr>
      <vt:lpstr>Calibri</vt:lpstr>
      <vt:lpstr>Times New Roman</vt:lpstr>
      <vt:lpstr>Times New Roman Bold</vt:lpstr>
      <vt:lpstr>TT Rounds Condensed</vt:lpstr>
      <vt:lpstr>11_Default Design</vt:lpstr>
      <vt:lpstr>PowerPoint Presentation</vt:lpstr>
      <vt:lpstr>Guide's Approval</vt:lpstr>
      <vt:lpstr>PowerPoint Presentation</vt:lpstr>
      <vt:lpstr>PowerPoint Presentation</vt:lpstr>
      <vt:lpstr> Mental-health conditions such as anxiety, depression, mood disorders, and stress can significantly affect an individual's daily life, behaviour, and emotional well-being.  Traditional mental-health monitoring:  Requires periodic clinical assessments   May miss gradual behavioural and emotional changes   Provides limited continuous monitoring   This System Addresses This Challenge Using: Natural Language Processing &amp; LLMs  Multimodal mental-health analysis   Safety-gated conversational support   </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Successfully proposed Zenova, an AI-assisted mental-health support and monitoring platform.   Will integrate multimodal data, NLP/LLMs, behavioural analysis, and personalized monitoring.   Will use personal baselines to identify significant changes in user behaviour and wellbeing.   Will Implement a safety-gated strategy layer to control AI-generated responses.  Provides personalized conversational support and early-warning insights.   Will be designed as a clinician-extending system, not a replacement for mental-health professionals.   Provides a foundation for safe, scalable, and personalized mental-health technology.  </vt:lpstr>
      <vt:lpstr>Advanced AI Personalization Adapt conversations and recommendations based on the user's past interactions and individual patterns.  Improved Mood &amp; Behaviour Tracking Analyze long-term changes in mood, sleep, activity, and daily routines using phone-based data.  Voice-Based Analysis Use voice inputs to identify additional emotional and behavioural patterns.  Multilingual &amp; Code-Mixed Support Support Indian languages such as Telugu, Hindi, and Kannada, including Hinglish/Kanglish-style conversations.  Enhanced Crisis Detection Improve detection of crisis-related messages and provide appropriate support and human escalation.  Clinician Dashboard Allow users to securely share summarized mood and behavioural trends with mental-health professionals.  Explainable AI Provide understandable reasons behind detected patterns and recommendations.  Personalized Intervention Planning Adapt the type and timing of supportive activities based on individual user responses.  Continuous Safety Evaluation Expand ZenovaSafe with more real-world, multi-turn, and culturally diverse safety scenarios.  Cloud-Based Deployment &amp; Scalability Deploy the application securely on cloud infrastructure to support more users while maintaining privacy.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keerthan reddy</cp:lastModifiedBy>
  <cp:revision>272</cp:revision>
  <dcterms:modified xsi:type="dcterms:W3CDTF">2026-08-19T10:09:04Z</dcterms:modified>
</cp:coreProperties>
</file>